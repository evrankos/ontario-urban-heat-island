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5"/>
    <p:sldId id="271" r:id="rId6"/>
    <p:sldId id="290" r:id="rId7"/>
    <p:sldId id="274" r:id="rId8"/>
    <p:sldId id="280" r:id="rId9"/>
    <p:sldId id="281" r:id="rId10"/>
    <p:sldId id="282" r:id="rId11"/>
    <p:sldId id="283" r:id="rId12"/>
    <p:sldId id="284" r:id="rId13"/>
    <p:sldId id="285" r:id="rId14"/>
    <p:sldId id="286" r:id="rId15"/>
    <p:sldId id="295" r:id="rId16"/>
    <p:sldId id="288" r:id="rId17"/>
    <p:sldId id="298" r:id="rId18"/>
    <p:sldId id="299" r:id="rId19"/>
    <p:sldId id="289" r:id="rId20"/>
    <p:sldId id="296" r:id="rId21"/>
    <p:sldId id="292" r:id="rId22"/>
    <p:sldId id="300" r:id="rId23"/>
    <p:sldId id="291" r:id="rId24"/>
    <p:sldId id="29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CEB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2DCAE6-7435-49E1-B574-6DE7EE72A14C}" type="datetimeFigureOut">
              <a:rPr lang="en-IN" smtClean="0"/>
              <a:t>26-07-2024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61400-00EA-4B32-8CEF-57E4DC490102}" type="slidenum">
              <a:rPr lang="en-IN" smtClean="0"/>
              <a:t>‹#›</a:t>
            </a:fld>
            <a:endParaRPr lang="en-IN"/>
          </a:p>
        </p:txBody>
      </p:sp>
    </p:spTree>
    <p:extLst>
      <p:ext uri="{BB962C8B-B14F-4D97-AF65-F5344CB8AC3E}">
        <p14:creationId xmlns:p14="http://schemas.microsoft.com/office/powerpoint/2010/main" val="1967803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1</a:t>
            </a:fld>
            <a:endParaRPr lang="en-IN"/>
          </a:p>
        </p:txBody>
      </p:sp>
    </p:spTree>
    <p:extLst>
      <p:ext uri="{BB962C8B-B14F-4D97-AF65-F5344CB8AC3E}">
        <p14:creationId xmlns:p14="http://schemas.microsoft.com/office/powerpoint/2010/main" val="2732296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2</a:t>
            </a:fld>
            <a:endParaRPr lang="en-IN"/>
          </a:p>
        </p:txBody>
      </p:sp>
    </p:spTree>
    <p:extLst>
      <p:ext uri="{BB962C8B-B14F-4D97-AF65-F5344CB8AC3E}">
        <p14:creationId xmlns:p14="http://schemas.microsoft.com/office/powerpoint/2010/main" val="119486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Global temperatures are rising steadily, with cities and urban areas experiencing the most intense heat. This phenomenon, known as the Heat Island (HI) effect, occurs because urban regions have a higher concentration of buildings, roads, and other infrastructure that absorb and retain heat. As a result, temperatures in these areas can be significantly higher than in surrounding rural regions. </a:t>
            </a:r>
          </a:p>
          <a:p>
            <a:endParaRPr lang="en-US"/>
          </a:p>
          <a:p>
            <a:r>
              <a:rPr lang="en-US" b="0"/>
              <a:t>Definition:</a:t>
            </a:r>
            <a:r>
              <a:rPr lang="en-US"/>
              <a:t> </a:t>
            </a:r>
          </a:p>
          <a:p>
            <a:r>
              <a:rPr lang="en-US"/>
              <a:t>The Heat Island Effect (HIE) refers to the phenomenon where certain areas become significantly warmer than their surrounding areas. This temperature difference is primarily due to human activities and the alterations of the natural environment.</a:t>
            </a:r>
            <a:endParaRPr lang="en-US" b="0"/>
          </a:p>
          <a:p>
            <a:endParaRPr lang="en-US" b="0"/>
          </a:p>
          <a:p>
            <a:r>
              <a:rPr lang="en-US" b="0"/>
              <a:t>Causes:</a:t>
            </a:r>
          </a:p>
          <a:p>
            <a:pPr marL="228600" indent="-228600">
              <a:buFont typeface="+mj-lt"/>
              <a:buAutoNum type="arabicParenR"/>
            </a:pPr>
            <a:r>
              <a:rPr lang="en-US" b="0"/>
              <a:t>Dense concentrations of buildings, roads, and other infrastructure absorb and retain heat more than natural landscapes such as forests and water bodies.</a:t>
            </a:r>
          </a:p>
          <a:p>
            <a:pPr marL="228600" indent="-228600">
              <a:buFont typeface="+mj-lt"/>
              <a:buAutoNum type="arabicParenR"/>
            </a:pPr>
            <a:r>
              <a:rPr lang="en-US" b="0"/>
              <a:t>Increased energy consumption, transportation emissions, and industrial activities contribute to higher temperatures in urban areas.</a:t>
            </a:r>
          </a:p>
          <a:p>
            <a:pPr marL="228600" indent="-228600">
              <a:buFont typeface="+mj-lt"/>
              <a:buAutoNum type="arabicParenR"/>
            </a:pPr>
            <a:r>
              <a:rPr lang="en-US" b="0"/>
              <a:t>The replacement of green spaces with concrete and asphalt surfaces reduces the natural cooling effects provided by plants and trees.</a:t>
            </a:r>
          </a:p>
          <a:p>
            <a:endParaRPr lang="en-US" b="0"/>
          </a:p>
          <a:p>
            <a:r>
              <a:rPr lang="en-US" b="0"/>
              <a:t>Consequences:</a:t>
            </a:r>
          </a:p>
          <a:p>
            <a:pPr marL="228600" indent="-228600">
              <a:buFont typeface="+mj-lt"/>
              <a:buAutoNum type="arabicParenR"/>
            </a:pPr>
            <a:r>
              <a:rPr lang="en-US" b="0"/>
              <a:t>Higher temperatures lead to greater use of air conditioning, which increases energy demand and can strain power grids.</a:t>
            </a:r>
          </a:p>
          <a:p>
            <a:pPr marL="228600" indent="-228600">
              <a:buFont typeface="+mj-lt"/>
              <a:buAutoNum type="arabicParenR"/>
            </a:pPr>
            <a:r>
              <a:rPr lang="en-US" b="0"/>
              <a:t>Increased energy consumption often results in higher emissions of greenhouse gases and air pollutants, exacerbating climate change and air quality issues.</a:t>
            </a:r>
          </a:p>
          <a:p>
            <a:pPr marL="228600" indent="-228600">
              <a:buFont typeface="+mj-lt"/>
              <a:buAutoNum type="arabicParenR"/>
            </a:pPr>
            <a:r>
              <a:rPr lang="en-US" b="0"/>
              <a:t>Higher temperatures can cause heat stress, exacerbate respiratory conditions, and lead to heat-related illnesses and fatalities, particularly among vulnerable populations.</a:t>
            </a:r>
          </a:p>
          <a:p>
            <a:pPr marL="228600" indent="-228600">
              <a:buFont typeface="+mj-lt"/>
              <a:buAutoNum type="arabicParenR"/>
            </a:pPr>
            <a:r>
              <a:rPr lang="en-US" b="0"/>
              <a:t>Increased surface temperatures can affect water bodies by raising the temperature of stormwater runoff, impacting aquatic ecosystems.</a:t>
            </a:r>
          </a:p>
        </p:txBody>
      </p:sp>
      <p:sp>
        <p:nvSpPr>
          <p:cNvPr id="4" name="Slide Number Placeholder 3"/>
          <p:cNvSpPr>
            <a:spLocks noGrp="1"/>
          </p:cNvSpPr>
          <p:nvPr>
            <p:ph type="sldNum" sz="quarter" idx="5"/>
          </p:nvPr>
        </p:nvSpPr>
        <p:spPr/>
        <p:txBody>
          <a:bodyPr/>
          <a:lstStyle/>
          <a:p>
            <a:fld id="{55461400-00EA-4B32-8CEF-57E4DC490102}" type="slidenum">
              <a:rPr lang="en-IN" smtClean="0"/>
              <a:t>3</a:t>
            </a:fld>
            <a:endParaRPr lang="en-IN"/>
          </a:p>
        </p:txBody>
      </p:sp>
    </p:spTree>
    <p:extLst>
      <p:ext uri="{BB962C8B-B14F-4D97-AF65-F5344CB8AC3E}">
        <p14:creationId xmlns:p14="http://schemas.microsoft.com/office/powerpoint/2010/main" val="3723033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Temperature rise can enhance the absorption of electromagnetic radiation</a:t>
            </a:r>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4</a:t>
            </a:fld>
            <a:endParaRPr lang="en-IN"/>
          </a:p>
        </p:txBody>
      </p:sp>
    </p:spTree>
    <p:extLst>
      <p:ext uri="{BB962C8B-B14F-4D97-AF65-F5344CB8AC3E}">
        <p14:creationId xmlns:p14="http://schemas.microsoft.com/office/powerpoint/2010/main" val="2226576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5</a:t>
            </a:fld>
            <a:endParaRPr lang="en-IN"/>
          </a:p>
        </p:txBody>
      </p:sp>
    </p:spTree>
    <p:extLst>
      <p:ext uri="{BB962C8B-B14F-4D97-AF65-F5344CB8AC3E}">
        <p14:creationId xmlns:p14="http://schemas.microsoft.com/office/powerpoint/2010/main" val="397277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6</a:t>
            </a:fld>
            <a:endParaRPr lang="en-IN"/>
          </a:p>
        </p:txBody>
      </p:sp>
    </p:spTree>
    <p:extLst>
      <p:ext uri="{BB962C8B-B14F-4D97-AF65-F5344CB8AC3E}">
        <p14:creationId xmlns:p14="http://schemas.microsoft.com/office/powerpoint/2010/main" val="4072989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map displays the distribution of different land cover classes in Ontario, highlighting areas of urban</a:t>
            </a:r>
          </a:p>
          <a:p>
            <a:r>
              <a:rPr lang="en-US"/>
              <a:t>development, forests, water bodies, and more. It helps in understanding the spatial patterns of land cover</a:t>
            </a:r>
          </a:p>
          <a:p>
            <a:r>
              <a:rPr lang="en-US"/>
              <a:t>and their potential impact on heat islands.</a:t>
            </a:r>
          </a:p>
          <a:p>
            <a:endParaRPr lang="en-US"/>
          </a:p>
          <a:p>
            <a:r>
              <a:rPr lang="en-US"/>
              <a:t>Here, we identified that various types of forests, Wetland and Water are the major land cover types in</a:t>
            </a:r>
          </a:p>
          <a:p>
            <a:r>
              <a:rPr lang="en-US"/>
              <a:t>Ontario. These could be important factors in finding relation between NDVI and temperature.</a:t>
            </a:r>
          </a:p>
        </p:txBody>
      </p:sp>
      <p:sp>
        <p:nvSpPr>
          <p:cNvPr id="4" name="Slide Number Placeholder 3"/>
          <p:cNvSpPr>
            <a:spLocks noGrp="1"/>
          </p:cNvSpPr>
          <p:nvPr>
            <p:ph type="sldNum" sz="quarter" idx="5"/>
          </p:nvPr>
        </p:nvSpPr>
        <p:spPr/>
        <p:txBody>
          <a:bodyPr/>
          <a:lstStyle/>
          <a:p>
            <a:fld id="{55461400-00EA-4B32-8CEF-57E4DC490102}" type="slidenum">
              <a:rPr lang="en-IN" smtClean="0"/>
              <a:t>7</a:t>
            </a:fld>
            <a:endParaRPr lang="en-IN"/>
          </a:p>
        </p:txBody>
      </p:sp>
    </p:spTree>
    <p:extLst>
      <p:ext uri="{BB962C8B-B14F-4D97-AF65-F5344CB8AC3E}">
        <p14:creationId xmlns:p14="http://schemas.microsoft.com/office/powerpoint/2010/main" val="3197372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8</a:t>
            </a:fld>
            <a:endParaRPr lang="en-IN"/>
          </a:p>
        </p:txBody>
      </p:sp>
    </p:spTree>
    <p:extLst>
      <p:ext uri="{BB962C8B-B14F-4D97-AF65-F5344CB8AC3E}">
        <p14:creationId xmlns:p14="http://schemas.microsoft.com/office/powerpoint/2010/main" val="2305897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9</a:t>
            </a:fld>
            <a:endParaRPr lang="en-IN"/>
          </a:p>
        </p:txBody>
      </p:sp>
    </p:spTree>
    <p:extLst>
      <p:ext uri="{BB962C8B-B14F-4D97-AF65-F5344CB8AC3E}">
        <p14:creationId xmlns:p14="http://schemas.microsoft.com/office/powerpoint/2010/main" val="1529180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10</a:t>
            </a:fld>
            <a:endParaRPr lang="en-IN"/>
          </a:p>
        </p:txBody>
      </p:sp>
    </p:spTree>
    <p:extLst>
      <p:ext uri="{BB962C8B-B14F-4D97-AF65-F5344CB8AC3E}">
        <p14:creationId xmlns:p14="http://schemas.microsoft.com/office/powerpoint/2010/main" val="3625732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11</a:t>
            </a:fld>
            <a:endParaRPr lang="en-IN"/>
          </a:p>
        </p:txBody>
      </p:sp>
    </p:spTree>
    <p:extLst>
      <p:ext uri="{BB962C8B-B14F-4D97-AF65-F5344CB8AC3E}">
        <p14:creationId xmlns:p14="http://schemas.microsoft.com/office/powerpoint/2010/main" val="1366418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12</a:t>
            </a:fld>
            <a:endParaRPr lang="en-IN"/>
          </a:p>
        </p:txBody>
      </p:sp>
    </p:spTree>
    <p:extLst>
      <p:ext uri="{BB962C8B-B14F-4D97-AF65-F5344CB8AC3E}">
        <p14:creationId xmlns:p14="http://schemas.microsoft.com/office/powerpoint/2010/main" val="4080714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13</a:t>
            </a:fld>
            <a:endParaRPr lang="en-IN"/>
          </a:p>
        </p:txBody>
      </p:sp>
    </p:spTree>
    <p:extLst>
      <p:ext uri="{BB962C8B-B14F-4D97-AF65-F5344CB8AC3E}">
        <p14:creationId xmlns:p14="http://schemas.microsoft.com/office/powerpoint/2010/main" val="1380270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14</a:t>
            </a:fld>
            <a:endParaRPr lang="en-IN"/>
          </a:p>
        </p:txBody>
      </p:sp>
    </p:spTree>
    <p:extLst>
      <p:ext uri="{BB962C8B-B14F-4D97-AF65-F5344CB8AC3E}">
        <p14:creationId xmlns:p14="http://schemas.microsoft.com/office/powerpoint/2010/main" val="1759196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15</a:t>
            </a:fld>
            <a:endParaRPr lang="en-IN"/>
          </a:p>
        </p:txBody>
      </p:sp>
    </p:spTree>
    <p:extLst>
      <p:ext uri="{BB962C8B-B14F-4D97-AF65-F5344CB8AC3E}">
        <p14:creationId xmlns:p14="http://schemas.microsoft.com/office/powerpoint/2010/main" val="997250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16</a:t>
            </a:fld>
            <a:endParaRPr lang="en-IN"/>
          </a:p>
        </p:txBody>
      </p:sp>
    </p:spTree>
    <p:extLst>
      <p:ext uri="{BB962C8B-B14F-4D97-AF65-F5344CB8AC3E}">
        <p14:creationId xmlns:p14="http://schemas.microsoft.com/office/powerpoint/2010/main" val="4083167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17</a:t>
            </a:fld>
            <a:endParaRPr lang="en-IN"/>
          </a:p>
        </p:txBody>
      </p:sp>
    </p:spTree>
    <p:extLst>
      <p:ext uri="{BB962C8B-B14F-4D97-AF65-F5344CB8AC3E}">
        <p14:creationId xmlns:p14="http://schemas.microsoft.com/office/powerpoint/2010/main" val="1338105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18</a:t>
            </a:fld>
            <a:endParaRPr lang="en-IN"/>
          </a:p>
        </p:txBody>
      </p:sp>
    </p:spTree>
    <p:extLst>
      <p:ext uri="{BB962C8B-B14F-4D97-AF65-F5344CB8AC3E}">
        <p14:creationId xmlns:p14="http://schemas.microsoft.com/office/powerpoint/2010/main" val="1425631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19</a:t>
            </a:fld>
            <a:endParaRPr lang="en-IN"/>
          </a:p>
        </p:txBody>
      </p:sp>
    </p:spTree>
    <p:extLst>
      <p:ext uri="{BB962C8B-B14F-4D97-AF65-F5344CB8AC3E}">
        <p14:creationId xmlns:p14="http://schemas.microsoft.com/office/powerpoint/2010/main" val="1949426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55461400-00EA-4B32-8CEF-57E4DC490102}" type="slidenum">
              <a:rPr lang="en-IN" smtClean="0"/>
              <a:t>20</a:t>
            </a:fld>
            <a:endParaRPr lang="en-IN"/>
          </a:p>
        </p:txBody>
      </p:sp>
    </p:spTree>
    <p:extLst>
      <p:ext uri="{BB962C8B-B14F-4D97-AF65-F5344CB8AC3E}">
        <p14:creationId xmlns:p14="http://schemas.microsoft.com/office/powerpoint/2010/main" val="2326385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461400-00EA-4B32-8CEF-57E4DC490102}" type="slidenum">
              <a:rPr lang="en-IN" smtClean="0"/>
              <a:t>21</a:t>
            </a:fld>
            <a:endParaRPr lang="en-IN"/>
          </a:p>
        </p:txBody>
      </p:sp>
    </p:spTree>
    <p:extLst>
      <p:ext uri="{BB962C8B-B14F-4D97-AF65-F5344CB8AC3E}">
        <p14:creationId xmlns:p14="http://schemas.microsoft.com/office/powerpoint/2010/main" val="3981290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804AE-58D1-08EB-CBB0-C206A4FCA2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2FA213-3A78-81E4-3A43-C7AEB35396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6F8BDF-B81A-5E26-F7B1-33AF2F32C259}"/>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A6F00642-3F4F-0D36-6B0F-B2C2638208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D37793-0A07-BD82-BD5F-834F007D345A}"/>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25704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D195E-1849-41EE-D9FA-5EFED03E00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1E2F52-469B-D69C-47ED-808BFCBB31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9996F5-4759-9774-16E5-7CF58E7A70F4}"/>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BB790115-04C4-1F05-53AF-9612619ECA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E98CA6-0A9A-6F06-CF9B-2AAAA0DF94A7}"/>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2195385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6E24A-C4D6-7AA4-02A8-F7744A66F6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431E6D-52FF-83A9-E4CF-C05B540A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95A1DA-45A7-47D5-EA7C-0E063D4D1D48}"/>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6E0CC3B9-0D4E-DFE4-FCCE-73A6100DA7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3B5E17-C010-B6EE-2E36-F466A6F4EB54}"/>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973764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8A103-8F4A-AB9F-3ED8-3CC5FF9792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988226-6E93-3A9B-D75D-50727C11CC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8310BD-464B-9D5F-5DD2-3795E17045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54C674-93FD-EA37-796B-3732DB788CE2}"/>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6" name="Footer Placeholder 5">
            <a:extLst>
              <a:ext uri="{FF2B5EF4-FFF2-40B4-BE49-F238E27FC236}">
                <a16:creationId xmlns:a16="http://schemas.microsoft.com/office/drawing/2014/main" id="{7C8826B3-F577-4C9A-901C-85896AF958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F862C9-EF64-980F-7EA1-C92D697DFE12}"/>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3702271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44097-9E85-6AF0-33BF-A354B5306F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22278B-971C-6054-7FE1-46F381AA8F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6E4BF-95A2-95EB-3425-76730BFEB6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D8D8B8-31E3-9A48-3E54-0D7E798EE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D6DD81-54CE-D44B-E7C3-38BA070B6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1CA2C7-E959-1C27-1DB9-CFE78C4B0E14}"/>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8" name="Footer Placeholder 7">
            <a:extLst>
              <a:ext uri="{FF2B5EF4-FFF2-40B4-BE49-F238E27FC236}">
                <a16:creationId xmlns:a16="http://schemas.microsoft.com/office/drawing/2014/main" id="{02FEDAD6-9A69-427D-10CC-06201EC53C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A9E124-4BF6-A57C-1437-D2EB3B46065D}"/>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1989767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8B0A-EA9F-599D-DEC0-BDB07AD2DD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AFECBE-FEB9-CACE-70EC-20F49FA0EEFF}"/>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4" name="Footer Placeholder 3">
            <a:extLst>
              <a:ext uri="{FF2B5EF4-FFF2-40B4-BE49-F238E27FC236}">
                <a16:creationId xmlns:a16="http://schemas.microsoft.com/office/drawing/2014/main" id="{C2894D42-7BA1-D0CD-07B5-DEB9E5F80E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6AD7B26-D8CA-1C74-2A03-EEBC25BCF900}"/>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375484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8CECDD-13F7-FF1D-BA51-201D5D964F3B}"/>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3" name="Footer Placeholder 2">
            <a:extLst>
              <a:ext uri="{FF2B5EF4-FFF2-40B4-BE49-F238E27FC236}">
                <a16:creationId xmlns:a16="http://schemas.microsoft.com/office/drawing/2014/main" id="{381C0A31-AE95-7FA9-C528-5EA2D41E82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34A385-A500-DFD4-F657-0511A93F89FF}"/>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323371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A839-82B6-0BAD-5E9D-8F9CF2FF87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D69590-23EF-E8A4-E473-DAFCF68B0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DDC898-C904-260C-A228-4EC95B0EE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CD8EA6-58A4-B77F-C026-731085B577A5}"/>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6" name="Footer Placeholder 5">
            <a:extLst>
              <a:ext uri="{FF2B5EF4-FFF2-40B4-BE49-F238E27FC236}">
                <a16:creationId xmlns:a16="http://schemas.microsoft.com/office/drawing/2014/main" id="{1D154750-C6AC-365E-B7EC-190D96DFAA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11E0A6-4A4F-5AF7-87F3-737336695C0A}"/>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197163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00CC8-F84D-A94E-EBC8-D8724F0AE0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292D41-835D-135F-7C1D-543087BD2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4FE6AD-37BF-E908-793D-567F285389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12E017-8977-9F29-473F-8341BDDA76C6}"/>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6" name="Footer Placeholder 5">
            <a:extLst>
              <a:ext uri="{FF2B5EF4-FFF2-40B4-BE49-F238E27FC236}">
                <a16:creationId xmlns:a16="http://schemas.microsoft.com/office/drawing/2014/main" id="{0AA201F3-9613-6626-8057-2DDA3B5524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A31790-DD46-8AA1-E848-84128F913730}"/>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554462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7DCF-9B07-C936-51D6-09A7629DD2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45FF59-44CA-7F2F-D747-F173EED87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603591-1364-CE9A-52DB-1C05C863F123}"/>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1708D7D7-CD6A-2BB3-64D5-FDEA77901A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5303B2-4FF0-86E4-2F7A-B6A71D4B29F3}"/>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54037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62B17-860F-9E4C-39F9-04F5A8556E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74D82E-8A7F-9ED7-A3BE-D91F48394F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D14163-A118-126E-7675-46924DF1E5B3}"/>
              </a:ext>
            </a:extLst>
          </p:cNvPr>
          <p:cNvSpPr>
            <a:spLocks noGrp="1"/>
          </p:cNvSpPr>
          <p:nvPr>
            <p:ph type="dt" sz="half" idx="10"/>
          </p:nvPr>
        </p:nvSpPr>
        <p:spPr/>
        <p:txBody>
          <a:body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32EC287F-FBC7-3CEF-E3F4-1D7C00194F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51E1CE-B823-25EF-C3A2-9ECF1A1140A7}"/>
              </a:ext>
            </a:extLst>
          </p:cNvPr>
          <p:cNvSpPr>
            <a:spLocks noGrp="1"/>
          </p:cNvSpPr>
          <p:nvPr>
            <p:ph type="sldNum" sz="quarter" idx="12"/>
          </p:nvPr>
        </p:nvSpPr>
        <p:spPr/>
        <p:txBody>
          <a:bodyPr/>
          <a:lstStyle/>
          <a:p>
            <a:fld id="{70D3700D-1510-408C-B025-F6C77E590300}" type="slidenum">
              <a:rPr lang="en-IN" smtClean="0"/>
              <a:t>‹#›</a:t>
            </a:fld>
            <a:endParaRPr lang="en-IN"/>
          </a:p>
        </p:txBody>
      </p:sp>
    </p:spTree>
    <p:extLst>
      <p:ext uri="{BB962C8B-B14F-4D97-AF65-F5344CB8AC3E}">
        <p14:creationId xmlns:p14="http://schemas.microsoft.com/office/powerpoint/2010/main" val="820700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D0AA67-16D7-7756-5F88-3AA1C9C4D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A54E53-C92A-A0AF-596E-0BC5B11A24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29777A-DE92-C741-40CD-EFEBA15577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864BB8-56AD-4AD1-9190-3B979E115406}" type="datetimeFigureOut">
              <a:rPr lang="en-IN" smtClean="0"/>
              <a:t>26-07-2024</a:t>
            </a:fld>
            <a:endParaRPr lang="en-IN"/>
          </a:p>
        </p:txBody>
      </p:sp>
      <p:sp>
        <p:nvSpPr>
          <p:cNvPr id="5" name="Footer Placeholder 4">
            <a:extLst>
              <a:ext uri="{FF2B5EF4-FFF2-40B4-BE49-F238E27FC236}">
                <a16:creationId xmlns:a16="http://schemas.microsoft.com/office/drawing/2014/main" id="{9E4C6A94-EAD6-06A1-FE43-1C08D34CCA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A16A959-6475-7818-AF27-6DB9E5B819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D3700D-1510-408C-B025-F6C77E590300}" type="slidenum">
              <a:rPr lang="en-IN" smtClean="0"/>
              <a:t>‹#›</a:t>
            </a:fld>
            <a:endParaRPr lang="en-IN"/>
          </a:p>
        </p:txBody>
      </p:sp>
    </p:spTree>
    <p:extLst>
      <p:ext uri="{BB962C8B-B14F-4D97-AF65-F5344CB8AC3E}">
        <p14:creationId xmlns:p14="http://schemas.microsoft.com/office/powerpoint/2010/main" val="744670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rachelsender.com/Heat-island-effec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open.canada.ca/data/en/dataset/ee1580ab-a23d-4f86-a09b-79763677eb47"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climate-change.canada.ca/climate-data/#/"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hyperlink" Target="https://github.com/microsoft/CanadianBuildingFootprints" TargetMode="Externa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www.ncei.noaa.gov/products/climate-data-records/normalized-difference-vegetation-index"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censusmapper.ca/api"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7" name="Rectangle 456">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8" name="Rectangle 457">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alphaModFix amt="60000"/>
          </a:blip>
          <a:srcRect/>
          <a:stretch/>
        </p:blipFill>
        <p:spPr>
          <a:xfrm>
            <a:off x="-1" y="10"/>
            <a:ext cx="12192001" cy="6857990"/>
          </a:xfrm>
          <a:prstGeom prst="rect">
            <a:avLst/>
          </a:prstGeom>
        </p:spPr>
      </p:pic>
      <p:sp>
        <p:nvSpPr>
          <p:cNvPr id="3" name="Subtitle 2">
            <a:extLst>
              <a:ext uri="{FF2B5EF4-FFF2-40B4-BE49-F238E27FC236}">
                <a16:creationId xmlns:a16="http://schemas.microsoft.com/office/drawing/2014/main" id="{C024192C-A115-0FE9-D1A0-18B07E862AFD}"/>
              </a:ext>
            </a:extLst>
          </p:cNvPr>
          <p:cNvSpPr>
            <a:spLocks noGrp="1"/>
          </p:cNvSpPr>
          <p:nvPr>
            <p:ph type="subTitle" idx="1"/>
          </p:nvPr>
        </p:nvSpPr>
        <p:spPr>
          <a:xfrm>
            <a:off x="6846570" y="2554727"/>
            <a:ext cx="5202936" cy="4160510"/>
          </a:xfrm>
        </p:spPr>
        <p:txBody>
          <a:bodyPr vert="horz" lIns="91440" tIns="45720" rIns="91440" bIns="45720" rtlCol="0" anchor="ctr">
            <a:normAutofit/>
          </a:bodyPr>
          <a:lstStyle/>
          <a:p>
            <a:pPr algn="r"/>
            <a:r>
              <a:rPr lang="en-US" sz="2000" b="1">
                <a:solidFill>
                  <a:srgbClr val="FFFFFF"/>
                </a:solidFill>
              </a:rPr>
              <a:t>Guided by: </a:t>
            </a:r>
            <a:r>
              <a:rPr lang="en-US" sz="2000">
                <a:solidFill>
                  <a:srgbClr val="FFFFFF"/>
                </a:solidFill>
              </a:rPr>
              <a:t>Dr Justin Slater</a:t>
            </a:r>
          </a:p>
          <a:p>
            <a:pPr algn="r"/>
            <a:endParaRPr lang="en-US" sz="2000">
              <a:solidFill>
                <a:srgbClr val="FFFFFF"/>
              </a:solidFill>
            </a:endParaRPr>
          </a:p>
          <a:p>
            <a:pPr algn="r"/>
            <a:r>
              <a:rPr lang="en-US" sz="2000">
                <a:solidFill>
                  <a:srgbClr val="FFFFFF"/>
                </a:solidFill>
              </a:rPr>
              <a:t>25</a:t>
            </a:r>
            <a:r>
              <a:rPr lang="en-US" sz="2000" baseline="30000">
                <a:solidFill>
                  <a:srgbClr val="FFFFFF"/>
                </a:solidFill>
              </a:rPr>
              <a:t>th</a:t>
            </a:r>
            <a:r>
              <a:rPr lang="en-US" sz="2000">
                <a:solidFill>
                  <a:srgbClr val="FFFFFF"/>
                </a:solidFill>
              </a:rPr>
              <a:t> July 2024</a:t>
            </a:r>
            <a:endParaRPr lang="en-US" sz="2000" b="1">
              <a:solidFill>
                <a:srgbClr val="FFFFFF"/>
              </a:solidFill>
            </a:endParaRPr>
          </a:p>
          <a:p>
            <a:pPr algn="r"/>
            <a:endParaRPr lang="en-US" sz="2000" b="1">
              <a:solidFill>
                <a:srgbClr val="FFFFFF"/>
              </a:solidFill>
            </a:endParaRPr>
          </a:p>
          <a:p>
            <a:pPr algn="r"/>
            <a:r>
              <a:rPr lang="en-US" sz="2000" b="1">
                <a:solidFill>
                  <a:srgbClr val="FFFFFF"/>
                </a:solidFill>
              </a:rPr>
              <a:t>Presented by</a:t>
            </a:r>
          </a:p>
          <a:p>
            <a:pPr algn="r"/>
            <a:r>
              <a:rPr lang="en-US" sz="2000">
                <a:solidFill>
                  <a:srgbClr val="FFFFFF"/>
                </a:solidFill>
              </a:rPr>
              <a:t>Niraj Pradipkumar Patil</a:t>
            </a:r>
          </a:p>
          <a:p>
            <a:pPr algn="r"/>
            <a:endParaRPr lang="en-US" sz="2000">
              <a:solidFill>
                <a:srgbClr val="FFFFFF"/>
              </a:solidFill>
            </a:endParaRPr>
          </a:p>
          <a:p>
            <a:pPr algn="r"/>
            <a:r>
              <a:rPr lang="en-US" sz="1800">
                <a:solidFill>
                  <a:srgbClr val="FFFFFF"/>
                </a:solidFill>
              </a:rPr>
              <a:t>DATA*6500: Analysis of Spatial-Temporal Data</a:t>
            </a:r>
          </a:p>
        </p:txBody>
      </p:sp>
      <p:pic>
        <p:nvPicPr>
          <p:cNvPr id="6" name="Picture 5" descr="A blue outline of a map&#10;&#10;Description automatically generated">
            <a:extLst>
              <a:ext uri="{FF2B5EF4-FFF2-40B4-BE49-F238E27FC236}">
                <a16:creationId xmlns:a16="http://schemas.microsoft.com/office/drawing/2014/main" id="{597468CE-DBF0-76C1-2E44-5B0BE735F02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4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142494" y="139637"/>
            <a:ext cx="6704076" cy="6575600"/>
          </a:xfrm>
          <a:prstGeom prst="rect">
            <a:avLst/>
          </a:prstGeom>
          <a:noFill/>
          <a:ln>
            <a:solidFill>
              <a:schemeClr val="bg1"/>
            </a:solidFill>
          </a:ln>
        </p:spPr>
      </p:pic>
      <p:sp>
        <p:nvSpPr>
          <p:cNvPr id="2" name="Title 1">
            <a:extLst>
              <a:ext uri="{FF2B5EF4-FFF2-40B4-BE49-F238E27FC236}">
                <a16:creationId xmlns:a16="http://schemas.microsoft.com/office/drawing/2014/main" id="{B7EBA93E-0841-9819-DBD6-3B847FF54A8C}"/>
              </a:ext>
            </a:extLst>
          </p:cNvPr>
          <p:cNvSpPr>
            <a:spLocks noGrp="1"/>
          </p:cNvSpPr>
          <p:nvPr>
            <p:ph type="ctrTitle"/>
          </p:nvPr>
        </p:nvSpPr>
        <p:spPr>
          <a:xfrm>
            <a:off x="139446" y="274321"/>
            <a:ext cx="4535423" cy="5297578"/>
          </a:xfrm>
        </p:spPr>
        <p:txBody>
          <a:bodyPr vert="horz" lIns="91440" tIns="45720" rIns="91440" bIns="45720" rtlCol="0" anchor="ctr">
            <a:normAutofit/>
          </a:bodyPr>
          <a:lstStyle/>
          <a:p>
            <a:r>
              <a:rPr lang="en-US" sz="2400" b="1">
                <a:solidFill>
                  <a:schemeClr val="tx1">
                    <a:lumMod val="65000"/>
                    <a:lumOff val="35000"/>
                  </a:schemeClr>
                </a:solidFill>
                <a:latin typeface="Montserrat" panose="00000500000000000000" pitchFamily="2" charset="0"/>
                <a:ea typeface="Verdana" panose="020B0604030504040204" pitchFamily="34" charset="0"/>
                <a:cs typeface="Helvetica" panose="020B0604020202020204" pitchFamily="34" charset="0"/>
              </a:rPr>
              <a:t>HEAT ISLAND </a:t>
            </a:r>
            <a:r>
              <a:rPr lang="en-US" sz="2600" b="1">
                <a:solidFill>
                  <a:schemeClr val="tx1">
                    <a:lumMod val="65000"/>
                    <a:lumOff val="35000"/>
                  </a:schemeClr>
                </a:solidFill>
                <a:latin typeface="Montserrat" panose="00000500000000000000" pitchFamily="2" charset="0"/>
                <a:ea typeface="Verdana" panose="020B0604030504040204" pitchFamily="34" charset="0"/>
                <a:cs typeface="Helvetica" panose="020B0604020202020204" pitchFamily="34" charset="0"/>
              </a:rPr>
              <a:t>EFFECT</a:t>
            </a:r>
            <a:br>
              <a:rPr lang="en-US" sz="2400" b="1">
                <a:solidFill>
                  <a:schemeClr val="tx1">
                    <a:lumMod val="65000"/>
                    <a:lumOff val="35000"/>
                  </a:schemeClr>
                </a:solidFill>
                <a:latin typeface="Montserrat" panose="00000500000000000000" pitchFamily="2" charset="0"/>
                <a:ea typeface="Verdana" panose="020B0604030504040204" pitchFamily="34" charset="0"/>
                <a:cs typeface="Helvetica" panose="020B0604020202020204" pitchFamily="34" charset="0"/>
              </a:rPr>
            </a:br>
            <a:r>
              <a:rPr lang="en-US" sz="2400" b="1">
                <a:solidFill>
                  <a:schemeClr val="tx1">
                    <a:lumMod val="65000"/>
                    <a:lumOff val="35000"/>
                  </a:schemeClr>
                </a:solidFill>
                <a:latin typeface="Montserrat" panose="00000500000000000000" pitchFamily="2" charset="0"/>
                <a:ea typeface="Verdana" panose="020B0604030504040204" pitchFamily="34" charset="0"/>
                <a:cs typeface="Helvetica" panose="020B0604020202020204" pitchFamily="34" charset="0"/>
              </a:rPr>
              <a:t>IN ONTARIO</a:t>
            </a:r>
          </a:p>
        </p:txBody>
      </p:sp>
    </p:spTree>
    <p:extLst>
      <p:ext uri="{BB962C8B-B14F-4D97-AF65-F5344CB8AC3E}">
        <p14:creationId xmlns:p14="http://schemas.microsoft.com/office/powerpoint/2010/main" val="331639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srcRect/>
          <a:stretch/>
        </p:blipFill>
        <p:spPr>
          <a:xfrm>
            <a:off x="-1" y="10"/>
            <a:ext cx="12192001" cy="6857990"/>
          </a:xfrm>
          <a:prstGeom prst="rect">
            <a:avLst/>
          </a:prstGeom>
        </p:spPr>
      </p:pic>
      <p:sp>
        <p:nvSpPr>
          <p:cNvPr id="464" name="Rectangle 463">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DD27B21-D0A2-CC8B-E9FA-FD6566411793}"/>
              </a:ext>
            </a:extLst>
          </p:cNvPr>
          <p:cNvSpPr>
            <a:spLocks noGrp="1"/>
          </p:cNvSpPr>
          <p:nvPr>
            <p:ph type="ctrTitle"/>
          </p:nvPr>
        </p:nvSpPr>
        <p:spPr>
          <a:xfrm>
            <a:off x="2276475" y="2247900"/>
            <a:ext cx="7581900" cy="2514600"/>
          </a:xfrm>
        </p:spPr>
        <p:txBody>
          <a:bodyPr vert="horz" lIns="91440" tIns="45720" rIns="91440" bIns="45720" rtlCol="0" anchor="ctr">
            <a:normAutofit/>
          </a:bodyPr>
          <a:lstStyle/>
          <a:p>
            <a:r>
              <a:rPr lang="en-US" sz="6600" b="1">
                <a:solidFill>
                  <a:schemeClr val="tx1">
                    <a:lumMod val="75000"/>
                    <a:lumOff val="25000"/>
                  </a:schemeClr>
                </a:solidFill>
              </a:rPr>
              <a:t>INTRODUCTION</a:t>
            </a:r>
          </a:p>
        </p:txBody>
      </p:sp>
    </p:spTree>
    <p:extLst>
      <p:ext uri="{BB962C8B-B14F-4D97-AF65-F5344CB8AC3E}">
        <p14:creationId xmlns:p14="http://schemas.microsoft.com/office/powerpoint/2010/main" val="3437398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1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r>
              <a:rPr lang="en-IN" sz="4000" b="1">
                <a:solidFill>
                  <a:schemeClr val="tx1">
                    <a:lumMod val="85000"/>
                    <a:lumOff val="15000"/>
                  </a:schemeClr>
                </a:solidFill>
                <a:latin typeface="Montserrat"/>
              </a:rPr>
              <a:t>PROBLEM STATEMENT</a:t>
            </a:r>
            <a:endParaRPr lang="en-IN" sz="4000" b="1">
              <a:solidFill>
                <a:schemeClr val="tx1">
                  <a:lumMod val="85000"/>
                  <a:lumOff val="15000"/>
                </a:schemeClr>
              </a:solidFill>
              <a:latin typeface="Montserrat" panose="00000500000000000000" pitchFamily="2" charset="0"/>
            </a:endParaRPr>
          </a:p>
        </p:txBody>
      </p:sp>
      <p:sp>
        <p:nvSpPr>
          <p:cNvPr id="8" name="Subtitle 7">
            <a:extLst>
              <a:ext uri="{FF2B5EF4-FFF2-40B4-BE49-F238E27FC236}">
                <a16:creationId xmlns:a16="http://schemas.microsoft.com/office/drawing/2014/main" id="{3E60E119-14F3-487A-5467-395944481AB0}"/>
              </a:ext>
            </a:extLst>
          </p:cNvPr>
          <p:cNvSpPr>
            <a:spLocks noGrp="1"/>
          </p:cNvSpPr>
          <p:nvPr>
            <p:ph sz="half" idx="1"/>
          </p:nvPr>
        </p:nvSpPr>
        <p:spPr>
          <a:xfrm>
            <a:off x="990601" y="2371724"/>
            <a:ext cx="4952999" cy="3752849"/>
          </a:xfrm>
        </p:spPr>
        <p:txBody>
          <a:bodyPr>
            <a:normAutofit fontScale="77500" lnSpcReduction="20000"/>
          </a:bodyPr>
          <a:lstStyle/>
          <a:p>
            <a:pPr marL="0" indent="0" algn="l">
              <a:lnSpc>
                <a:spcPct val="120000"/>
              </a:lnSpc>
              <a:buNone/>
            </a:pPr>
            <a:r>
              <a:rPr lang="en-US">
                <a:solidFill>
                  <a:schemeClr val="bg1">
                    <a:lumMod val="95000"/>
                  </a:schemeClr>
                </a:solidFill>
              </a:rPr>
              <a:t>Some areas become significantly warmer than their surroundings</a:t>
            </a:r>
          </a:p>
          <a:p>
            <a:pPr marL="0" indent="0" algn="l">
              <a:lnSpc>
                <a:spcPct val="120000"/>
              </a:lnSpc>
              <a:buNone/>
            </a:pPr>
            <a:endParaRPr lang="en-US">
              <a:solidFill>
                <a:schemeClr val="bg1">
                  <a:lumMod val="95000"/>
                </a:schemeClr>
              </a:solidFill>
            </a:endParaRPr>
          </a:p>
          <a:p>
            <a:pPr marL="0" indent="0" algn="l">
              <a:lnSpc>
                <a:spcPct val="120000"/>
              </a:lnSpc>
              <a:buNone/>
            </a:pPr>
            <a:r>
              <a:rPr lang="en-US" b="1">
                <a:solidFill>
                  <a:schemeClr val="bg1">
                    <a:lumMod val="95000"/>
                  </a:schemeClr>
                </a:solidFill>
              </a:rPr>
              <a:t>Relevance to Ontario</a:t>
            </a:r>
          </a:p>
          <a:p>
            <a:pPr>
              <a:lnSpc>
                <a:spcPct val="120000"/>
              </a:lnSpc>
            </a:pPr>
            <a:r>
              <a:rPr lang="en-US">
                <a:solidFill>
                  <a:schemeClr val="bg1">
                    <a:lumMod val="95000"/>
                  </a:schemeClr>
                </a:solidFill>
              </a:rPr>
              <a:t>Significant urbanization and diverse climate in Ontario</a:t>
            </a:r>
          </a:p>
          <a:p>
            <a:pPr>
              <a:lnSpc>
                <a:spcPct val="120000"/>
              </a:lnSpc>
            </a:pPr>
            <a:r>
              <a:rPr lang="en-US">
                <a:solidFill>
                  <a:schemeClr val="bg1">
                    <a:lumMod val="95000"/>
                  </a:schemeClr>
                </a:solidFill>
              </a:rPr>
              <a:t>By identifying HIE hotspots, targeted interventions can be developed to protect from extreme heat events</a:t>
            </a:r>
          </a:p>
        </p:txBody>
      </p:sp>
      <p:sp>
        <p:nvSpPr>
          <p:cNvPr id="9" name="Content Placeholder 8">
            <a:extLst>
              <a:ext uri="{FF2B5EF4-FFF2-40B4-BE49-F238E27FC236}">
                <a16:creationId xmlns:a16="http://schemas.microsoft.com/office/drawing/2014/main" id="{CB0D691E-0650-3E54-78E8-CE48A71E7391}"/>
              </a:ext>
            </a:extLst>
          </p:cNvPr>
          <p:cNvSpPr>
            <a:spLocks noGrp="1"/>
          </p:cNvSpPr>
          <p:nvPr>
            <p:ph sz="half" idx="2"/>
          </p:nvPr>
        </p:nvSpPr>
        <p:spPr>
          <a:xfrm>
            <a:off x="6248401" y="2371723"/>
            <a:ext cx="4953000" cy="3752851"/>
          </a:xfrm>
        </p:spPr>
        <p:txBody>
          <a:bodyPr>
            <a:normAutofit fontScale="77500" lnSpcReduction="20000"/>
          </a:bodyPr>
          <a:lstStyle/>
          <a:p>
            <a:pPr marL="0" indent="0" algn="l">
              <a:buNone/>
            </a:pPr>
            <a:r>
              <a:rPr lang="en-US" b="1">
                <a:solidFill>
                  <a:schemeClr val="bg1">
                    <a:lumMod val="95000"/>
                  </a:schemeClr>
                </a:solidFill>
              </a:rPr>
              <a:t>Causes</a:t>
            </a:r>
          </a:p>
          <a:p>
            <a:pPr marL="342900" indent="-342900" algn="l">
              <a:buFont typeface="Arial" panose="020B0604020202020204" pitchFamily="34" charset="0"/>
              <a:buChar char="•"/>
            </a:pPr>
            <a:r>
              <a:rPr lang="en-US">
                <a:solidFill>
                  <a:schemeClr val="bg1">
                    <a:lumMod val="95000"/>
                  </a:schemeClr>
                </a:solidFill>
              </a:rPr>
              <a:t>Urbanization</a:t>
            </a:r>
          </a:p>
          <a:p>
            <a:pPr marL="342900" indent="-342900" algn="l">
              <a:buFont typeface="Arial" panose="020B0604020202020204" pitchFamily="34" charset="0"/>
              <a:buChar char="•"/>
            </a:pPr>
            <a:r>
              <a:rPr lang="en-US">
                <a:solidFill>
                  <a:schemeClr val="bg1">
                    <a:lumMod val="95000"/>
                  </a:schemeClr>
                </a:solidFill>
              </a:rPr>
              <a:t>Human Activities</a:t>
            </a:r>
          </a:p>
          <a:p>
            <a:pPr marL="342900" indent="-342900" algn="l">
              <a:buFont typeface="Arial" panose="020B0604020202020204" pitchFamily="34" charset="0"/>
              <a:buChar char="•"/>
            </a:pPr>
            <a:r>
              <a:rPr lang="en-US">
                <a:solidFill>
                  <a:schemeClr val="bg1">
                    <a:lumMod val="95000"/>
                  </a:schemeClr>
                </a:solidFill>
              </a:rPr>
              <a:t>Reduced Vegetation</a:t>
            </a:r>
          </a:p>
          <a:p>
            <a:pPr marL="0" indent="0" algn="l">
              <a:buNone/>
            </a:pPr>
            <a:endParaRPr lang="en-US">
              <a:solidFill>
                <a:schemeClr val="bg1">
                  <a:lumMod val="95000"/>
                </a:schemeClr>
              </a:solidFill>
            </a:endParaRPr>
          </a:p>
          <a:p>
            <a:pPr marL="0" indent="0" algn="l">
              <a:buNone/>
            </a:pPr>
            <a:r>
              <a:rPr lang="en-US" b="1">
                <a:solidFill>
                  <a:schemeClr val="bg1">
                    <a:lumMod val="95000"/>
                  </a:schemeClr>
                </a:solidFill>
              </a:rPr>
              <a:t>Consequences</a:t>
            </a:r>
          </a:p>
          <a:p>
            <a:pPr marL="342900" indent="-342900" algn="l">
              <a:buFont typeface="Arial" panose="020B0604020202020204" pitchFamily="34" charset="0"/>
              <a:buChar char="•"/>
            </a:pPr>
            <a:r>
              <a:rPr lang="en-US">
                <a:solidFill>
                  <a:schemeClr val="bg1">
                    <a:lumMod val="95000"/>
                  </a:schemeClr>
                </a:solidFill>
              </a:rPr>
              <a:t>Increased Energy Consumption</a:t>
            </a:r>
          </a:p>
          <a:p>
            <a:pPr marL="342900" indent="-342900" algn="l">
              <a:buFont typeface="Arial" panose="020B0604020202020204" pitchFamily="34" charset="0"/>
              <a:buChar char="•"/>
            </a:pPr>
            <a:r>
              <a:rPr lang="en-US">
                <a:solidFill>
                  <a:schemeClr val="bg1">
                    <a:lumMod val="95000"/>
                  </a:schemeClr>
                </a:solidFill>
              </a:rPr>
              <a:t>Elevated Emissions</a:t>
            </a:r>
          </a:p>
          <a:p>
            <a:pPr marL="342900" indent="-342900" algn="l">
              <a:buFont typeface="Arial" panose="020B0604020202020204" pitchFamily="34" charset="0"/>
              <a:buChar char="•"/>
            </a:pPr>
            <a:r>
              <a:rPr lang="en-US">
                <a:solidFill>
                  <a:schemeClr val="bg1">
                    <a:lumMod val="95000"/>
                  </a:schemeClr>
                </a:solidFill>
              </a:rPr>
              <a:t>Public Health Impacts</a:t>
            </a:r>
          </a:p>
          <a:p>
            <a:pPr marL="342900" indent="-342900" algn="l">
              <a:buFont typeface="Arial" panose="020B0604020202020204" pitchFamily="34" charset="0"/>
              <a:buChar char="•"/>
            </a:pPr>
            <a:r>
              <a:rPr lang="en-US">
                <a:solidFill>
                  <a:schemeClr val="bg1">
                    <a:lumMod val="95000"/>
                  </a:schemeClr>
                </a:solidFill>
              </a:rPr>
              <a:t>Water Quality Degradation</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869420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road and buildings&#10;&#10;Description automatically generated">
            <a:extLst>
              <a:ext uri="{FF2B5EF4-FFF2-40B4-BE49-F238E27FC236}">
                <a16:creationId xmlns:a16="http://schemas.microsoft.com/office/drawing/2014/main" id="{ACC31BC4-A725-29E7-7C8B-141E6C585200}"/>
              </a:ext>
            </a:extLst>
          </p:cNvPr>
          <p:cNvPicPr>
            <a:picLocks noChangeAspect="1"/>
          </p:cNvPicPr>
          <p:nvPr/>
        </p:nvPicPr>
        <p:blipFill rotWithShape="1">
          <a:blip r:embed="rId3">
            <a:extLst>
              <a:ext uri="{28A0092B-C50C-407E-A947-70E740481C1C}">
                <a14:useLocalDpi xmlns:a14="http://schemas.microsoft.com/office/drawing/2010/main" val="0"/>
              </a:ext>
            </a:extLst>
          </a:blip>
          <a:srcRect t="2638"/>
          <a:stretch/>
        </p:blipFill>
        <p:spPr>
          <a:xfrm>
            <a:off x="1200303" y="0"/>
            <a:ext cx="9791393" cy="6743258"/>
          </a:xfrm>
          <a:prstGeom prst="rect">
            <a:avLst/>
          </a:prstGeom>
        </p:spPr>
      </p:pic>
      <p:sp>
        <p:nvSpPr>
          <p:cNvPr id="3" name="Content Placeholder 2">
            <a:extLst>
              <a:ext uri="{FF2B5EF4-FFF2-40B4-BE49-F238E27FC236}">
                <a16:creationId xmlns:a16="http://schemas.microsoft.com/office/drawing/2014/main" id="{A13CD973-787E-1E5B-D802-37A9118EFEF8}"/>
              </a:ext>
            </a:extLst>
          </p:cNvPr>
          <p:cNvSpPr>
            <a:spLocks noGrp="1"/>
          </p:cNvSpPr>
          <p:nvPr>
            <p:ph idx="1"/>
          </p:nvPr>
        </p:nvSpPr>
        <p:spPr>
          <a:xfrm>
            <a:off x="838200" y="6419850"/>
            <a:ext cx="10610850" cy="361950"/>
          </a:xfrm>
        </p:spPr>
        <p:txBody>
          <a:bodyPr>
            <a:normAutofit/>
          </a:bodyPr>
          <a:lstStyle/>
          <a:p>
            <a:pPr marL="0" indent="0" algn="ctr">
              <a:buNone/>
            </a:pPr>
            <a:r>
              <a:rPr lang="en-IN" sz="1800"/>
              <a:t>Illustration by Rachel Sender (</a:t>
            </a:r>
            <a:r>
              <a:rPr lang="en-IN" sz="1800">
                <a:hlinkClick r:id="rId4"/>
              </a:rPr>
              <a:t>https://rachelsender.com/Heat-island-effect</a:t>
            </a:r>
            <a:r>
              <a:rPr lang="en-IN" sz="1800"/>
              <a:t>)</a:t>
            </a:r>
          </a:p>
        </p:txBody>
      </p:sp>
    </p:spTree>
    <p:extLst>
      <p:ext uri="{BB962C8B-B14F-4D97-AF65-F5344CB8AC3E}">
        <p14:creationId xmlns:p14="http://schemas.microsoft.com/office/powerpoint/2010/main" val="281828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pPr algn="l"/>
            <a:r>
              <a:rPr lang="en-IN" sz="4000" b="1">
                <a:solidFill>
                  <a:schemeClr val="tx1">
                    <a:lumMod val="85000"/>
                    <a:lumOff val="15000"/>
                  </a:schemeClr>
                </a:solidFill>
                <a:latin typeface="Montserrat" panose="00000500000000000000" pitchFamily="2" charset="0"/>
              </a:rPr>
              <a:t>MOTIVATION</a:t>
            </a:r>
          </a:p>
        </p:txBody>
      </p:sp>
      <p:sp>
        <p:nvSpPr>
          <p:cNvPr id="8" name="Subtitle 7">
            <a:extLst>
              <a:ext uri="{FF2B5EF4-FFF2-40B4-BE49-F238E27FC236}">
                <a16:creationId xmlns:a16="http://schemas.microsoft.com/office/drawing/2014/main" id="{3E60E119-14F3-487A-5467-395944481AB0}"/>
              </a:ext>
            </a:extLst>
          </p:cNvPr>
          <p:cNvSpPr>
            <a:spLocks noGrp="1"/>
          </p:cNvSpPr>
          <p:nvPr>
            <p:ph sz="half" idx="1"/>
          </p:nvPr>
        </p:nvSpPr>
        <p:spPr>
          <a:xfrm>
            <a:off x="990601" y="2371724"/>
            <a:ext cx="4724399" cy="3752849"/>
          </a:xfrm>
        </p:spPr>
        <p:txBody>
          <a:bodyPr>
            <a:normAutofit fontScale="92500" lnSpcReduction="20000"/>
          </a:bodyPr>
          <a:lstStyle/>
          <a:p>
            <a:pPr marL="0" indent="0" algn="l">
              <a:lnSpc>
                <a:spcPct val="120000"/>
              </a:lnSpc>
              <a:buNone/>
            </a:pPr>
            <a:r>
              <a:rPr lang="en-US" sz="2000" b="1">
                <a:solidFill>
                  <a:schemeClr val="bg1">
                    <a:lumMod val="95000"/>
                  </a:schemeClr>
                </a:solidFill>
              </a:rPr>
              <a:t>Purpose of the Project</a:t>
            </a:r>
          </a:p>
          <a:p>
            <a:pPr>
              <a:lnSpc>
                <a:spcPct val="120000"/>
              </a:lnSpc>
            </a:pPr>
            <a:r>
              <a:rPr lang="en-US" sz="2000">
                <a:solidFill>
                  <a:schemeClr val="bg1">
                    <a:lumMod val="95000"/>
                  </a:schemeClr>
                </a:solidFill>
              </a:rPr>
              <a:t>To understand how urbanization and natural features contribute to temperature variations</a:t>
            </a:r>
          </a:p>
          <a:p>
            <a:pPr marL="0" indent="0">
              <a:lnSpc>
                <a:spcPct val="120000"/>
              </a:lnSpc>
              <a:buNone/>
            </a:pPr>
            <a:endParaRPr lang="en-US" sz="2000">
              <a:solidFill>
                <a:schemeClr val="bg1">
                  <a:lumMod val="95000"/>
                </a:schemeClr>
              </a:solidFill>
            </a:endParaRPr>
          </a:p>
          <a:p>
            <a:pPr marL="0" indent="0" algn="l">
              <a:lnSpc>
                <a:spcPct val="120000"/>
              </a:lnSpc>
              <a:buNone/>
            </a:pPr>
            <a:r>
              <a:rPr lang="en-US" sz="2000" b="1">
                <a:solidFill>
                  <a:schemeClr val="bg1">
                    <a:lumMod val="95000"/>
                  </a:schemeClr>
                </a:solidFill>
              </a:rPr>
              <a:t>Importance</a:t>
            </a:r>
          </a:p>
          <a:p>
            <a:pPr>
              <a:lnSpc>
                <a:spcPct val="120000"/>
              </a:lnSpc>
            </a:pPr>
            <a:r>
              <a:rPr lang="en-US" sz="2000">
                <a:solidFill>
                  <a:schemeClr val="bg1">
                    <a:lumMod val="95000"/>
                  </a:schemeClr>
                </a:solidFill>
              </a:rPr>
              <a:t>Lower energy use, reduce emissions, improve air quality</a:t>
            </a:r>
          </a:p>
          <a:p>
            <a:pPr>
              <a:lnSpc>
                <a:spcPct val="120000"/>
              </a:lnSpc>
            </a:pPr>
            <a:r>
              <a:rPr lang="en-US" sz="2000">
                <a:solidFill>
                  <a:schemeClr val="bg1">
                    <a:lumMod val="95000"/>
                  </a:schemeClr>
                </a:solidFill>
              </a:rPr>
              <a:t>Combat climate change and protect public health</a:t>
            </a:r>
          </a:p>
        </p:txBody>
      </p:sp>
      <p:sp>
        <p:nvSpPr>
          <p:cNvPr id="9" name="Content Placeholder 8">
            <a:extLst>
              <a:ext uri="{FF2B5EF4-FFF2-40B4-BE49-F238E27FC236}">
                <a16:creationId xmlns:a16="http://schemas.microsoft.com/office/drawing/2014/main" id="{CB0D691E-0650-3E54-78E8-CE48A71E7391}"/>
              </a:ext>
            </a:extLst>
          </p:cNvPr>
          <p:cNvSpPr>
            <a:spLocks noGrp="1"/>
          </p:cNvSpPr>
          <p:nvPr>
            <p:ph sz="half" idx="2"/>
          </p:nvPr>
        </p:nvSpPr>
        <p:spPr>
          <a:xfrm>
            <a:off x="6096000" y="2371723"/>
            <a:ext cx="5105401" cy="3752851"/>
          </a:xfrm>
        </p:spPr>
        <p:txBody>
          <a:bodyPr vert="horz" lIns="91440" tIns="45720" rIns="91440" bIns="45720" rtlCol="0" anchor="t">
            <a:noAutofit/>
          </a:bodyPr>
          <a:lstStyle/>
          <a:p>
            <a:pPr marL="0" indent="0" algn="l">
              <a:buNone/>
            </a:pPr>
            <a:r>
              <a:rPr lang="en-US" sz="1900" b="1">
                <a:solidFill>
                  <a:schemeClr val="bg1">
                    <a:lumMod val="95000"/>
                  </a:schemeClr>
                </a:solidFill>
              </a:rPr>
              <a:t>Goals</a:t>
            </a:r>
          </a:p>
          <a:p>
            <a:r>
              <a:rPr lang="en-US" sz="1900" b="1">
                <a:solidFill>
                  <a:schemeClr val="bg1">
                    <a:lumMod val="95000"/>
                  </a:schemeClr>
                </a:solidFill>
              </a:rPr>
              <a:t>HIE Index: </a:t>
            </a:r>
          </a:p>
          <a:p>
            <a:pPr marL="457200" lvl="1" indent="0">
              <a:buNone/>
            </a:pPr>
            <a:r>
              <a:rPr lang="en-US" sz="1900">
                <a:solidFill>
                  <a:schemeClr val="bg1">
                    <a:lumMod val="95000"/>
                  </a:schemeClr>
                </a:solidFill>
              </a:rPr>
              <a:t>Quantify heat island effect across regions</a:t>
            </a:r>
          </a:p>
          <a:p>
            <a:pPr marL="457200" lvl="1" indent="0">
              <a:buNone/>
            </a:pPr>
            <a:endParaRPr lang="en-US" sz="1900">
              <a:solidFill>
                <a:schemeClr val="bg1">
                  <a:lumMod val="95000"/>
                </a:schemeClr>
              </a:solidFill>
            </a:endParaRPr>
          </a:p>
          <a:p>
            <a:r>
              <a:rPr lang="en-US" sz="1900" b="1">
                <a:solidFill>
                  <a:schemeClr val="bg1">
                    <a:lumMod val="95000"/>
                  </a:schemeClr>
                </a:solidFill>
              </a:rPr>
              <a:t>Measuring HIE: </a:t>
            </a:r>
          </a:p>
          <a:p>
            <a:pPr marL="457200" lvl="1" indent="0">
              <a:buNone/>
            </a:pPr>
            <a:r>
              <a:rPr lang="en-US" sz="1900">
                <a:solidFill>
                  <a:schemeClr val="bg1">
                    <a:lumMod val="95000"/>
                  </a:schemeClr>
                </a:solidFill>
              </a:rPr>
              <a:t>Forecast future heat island effects based on current data trends</a:t>
            </a:r>
          </a:p>
          <a:p>
            <a:pPr marL="457200" lvl="1" indent="0">
              <a:buNone/>
            </a:pPr>
            <a:endParaRPr lang="en-US" sz="1900">
              <a:solidFill>
                <a:schemeClr val="bg1">
                  <a:lumMod val="95000"/>
                </a:schemeClr>
              </a:solidFill>
            </a:endParaRPr>
          </a:p>
          <a:p>
            <a:r>
              <a:rPr lang="en-US" sz="1900" b="1">
                <a:solidFill>
                  <a:schemeClr val="bg1">
                    <a:lumMod val="95000"/>
                  </a:schemeClr>
                </a:solidFill>
              </a:rPr>
              <a:t>Urban Planning: </a:t>
            </a:r>
          </a:p>
          <a:p>
            <a:pPr marL="457200" lvl="1" indent="0">
              <a:buNone/>
            </a:pPr>
            <a:r>
              <a:rPr lang="en-US" sz="1900">
                <a:solidFill>
                  <a:schemeClr val="bg1">
                    <a:lumMod val="95000"/>
                  </a:schemeClr>
                </a:solidFill>
              </a:rPr>
              <a:t>Provide actionable insights to mitigate heat island effect and improve public health</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48148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srcRect/>
          <a:stretch/>
        </p:blipFill>
        <p:spPr>
          <a:xfrm>
            <a:off x="-1" y="10"/>
            <a:ext cx="12192001" cy="6857990"/>
          </a:xfrm>
          <a:prstGeom prst="rect">
            <a:avLst/>
          </a:prstGeom>
        </p:spPr>
      </p:pic>
      <p:sp>
        <p:nvSpPr>
          <p:cNvPr id="464" name="Rectangle 463">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DD27B21-D0A2-CC8B-E9FA-FD6566411793}"/>
              </a:ext>
            </a:extLst>
          </p:cNvPr>
          <p:cNvSpPr>
            <a:spLocks noGrp="1"/>
          </p:cNvSpPr>
          <p:nvPr>
            <p:ph type="ctrTitle"/>
          </p:nvPr>
        </p:nvSpPr>
        <p:spPr>
          <a:xfrm>
            <a:off x="2276475" y="2247900"/>
            <a:ext cx="7581900" cy="2514600"/>
          </a:xfrm>
        </p:spPr>
        <p:txBody>
          <a:bodyPr vert="horz" lIns="91440" tIns="45720" rIns="91440" bIns="45720" rtlCol="0" anchor="ctr">
            <a:normAutofit/>
          </a:bodyPr>
          <a:lstStyle/>
          <a:p>
            <a:r>
              <a:rPr lang="en-US" sz="6600" b="1" dirty="0">
                <a:solidFill>
                  <a:schemeClr val="tx1">
                    <a:lumMod val="75000"/>
                    <a:lumOff val="25000"/>
                  </a:schemeClr>
                </a:solidFill>
              </a:rPr>
              <a:t>DATA ACQUISITION</a:t>
            </a:r>
          </a:p>
        </p:txBody>
      </p:sp>
    </p:spTree>
    <p:extLst>
      <p:ext uri="{BB962C8B-B14F-4D97-AF65-F5344CB8AC3E}">
        <p14:creationId xmlns:p14="http://schemas.microsoft.com/office/powerpoint/2010/main" val="3972163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3" name="Content Placeholder 2">
            <a:extLst>
              <a:ext uri="{FF2B5EF4-FFF2-40B4-BE49-F238E27FC236}">
                <a16:creationId xmlns:a16="http://schemas.microsoft.com/office/drawing/2014/main" id="{C4681FC0-30D0-A649-21AC-35F624BAEE40}"/>
              </a:ext>
            </a:extLst>
          </p:cNvPr>
          <p:cNvSpPr>
            <a:spLocks noGrp="1"/>
          </p:cNvSpPr>
          <p:nvPr>
            <p:ph sz="half" idx="1"/>
          </p:nvPr>
        </p:nvSpPr>
        <p:spPr>
          <a:xfrm>
            <a:off x="305158" y="1496683"/>
            <a:ext cx="3214419" cy="3864634"/>
          </a:xfrm>
        </p:spPr>
        <p:txBody>
          <a:bodyPr vert="horz" lIns="91440" tIns="45720" rIns="91440" bIns="45720" rtlCol="0" anchor="t">
            <a:normAutofit/>
          </a:bodyPr>
          <a:lstStyle/>
          <a:p>
            <a:r>
              <a:rPr lang="en-IN" dirty="0"/>
              <a:t>This map portrays the Distribution of land Covers</a:t>
            </a:r>
          </a:p>
          <a:p>
            <a:endParaRPr lang="en-US" dirty="0"/>
          </a:p>
          <a:p>
            <a:r>
              <a:rPr lang="en-IN" dirty="0"/>
              <a:t>Regions to focus on:</a:t>
            </a:r>
          </a:p>
          <a:p>
            <a:pPr marL="914400" lvl="1" indent="-457200">
              <a:buAutoNum type="arabicPeriod"/>
            </a:pPr>
            <a:r>
              <a:rPr lang="en-IN" dirty="0"/>
              <a:t>Urban Areas</a:t>
            </a:r>
          </a:p>
          <a:p>
            <a:pPr marL="914400" lvl="1" indent="-457200">
              <a:buAutoNum type="arabicPeriod"/>
            </a:pPr>
            <a:r>
              <a:rPr lang="en-IN" dirty="0"/>
              <a:t>Forests</a:t>
            </a:r>
          </a:p>
          <a:p>
            <a:pPr marL="914400" lvl="1" indent="-457200">
              <a:buAutoNum type="arabicPeriod"/>
            </a:pPr>
            <a:r>
              <a:rPr lang="en-IN" dirty="0"/>
              <a:t>Grasslands</a:t>
            </a:r>
          </a:p>
          <a:p>
            <a:pPr marL="914400" lvl="1" indent="-457200">
              <a:buAutoNum type="arabicPeriod"/>
            </a:pPr>
            <a:endParaRPr lang="en-IN" dirty="0"/>
          </a:p>
          <a:p>
            <a:pPr marL="914400" lvl="1" indent="-457200">
              <a:buAutoNum type="arabicPeriod"/>
            </a:pPr>
            <a:endParaRPr lang="en-IN" dirty="0"/>
          </a:p>
        </p:txBody>
      </p:sp>
      <p:pic>
        <p:nvPicPr>
          <p:cNvPr id="11" name="Content Placeholder 1" descr="A map of a land cover type&#10;&#10;Description automatically generated">
            <a:extLst>
              <a:ext uri="{FF2B5EF4-FFF2-40B4-BE49-F238E27FC236}">
                <a16:creationId xmlns:a16="http://schemas.microsoft.com/office/drawing/2014/main" id="{E27EC9E9-3740-0FA7-AC5A-84C7808491A8}"/>
              </a:ext>
            </a:extLst>
          </p:cNvPr>
          <p:cNvPicPr>
            <a:picLocks noChangeAspect="1"/>
          </p:cNvPicPr>
          <p:nvPr/>
        </p:nvPicPr>
        <p:blipFill rotWithShape="1">
          <a:blip r:embed="rId3"/>
          <a:srcRect l="5816" t="2986" r="3060"/>
          <a:stretch/>
        </p:blipFill>
        <p:spPr>
          <a:xfrm>
            <a:off x="3411562" y="365866"/>
            <a:ext cx="8780438" cy="6126268"/>
          </a:xfrm>
          <a:prstGeom prst="rect">
            <a:avLst/>
          </a:prstGeom>
        </p:spPr>
      </p:pic>
      <p:sp>
        <p:nvSpPr>
          <p:cNvPr id="2" name="TextBox 1">
            <a:extLst>
              <a:ext uri="{FF2B5EF4-FFF2-40B4-BE49-F238E27FC236}">
                <a16:creationId xmlns:a16="http://schemas.microsoft.com/office/drawing/2014/main" id="{28B88568-77B6-5F6A-1D73-05955AF6EA49}"/>
              </a:ext>
            </a:extLst>
          </p:cNvPr>
          <p:cNvSpPr txBox="1"/>
          <p:nvPr/>
        </p:nvSpPr>
        <p:spPr>
          <a:xfrm>
            <a:off x="864279" y="6455736"/>
            <a:ext cx="10463442" cy="369332"/>
          </a:xfrm>
          <a:prstGeom prst="rect">
            <a:avLst/>
          </a:prstGeom>
          <a:noFill/>
        </p:spPr>
        <p:txBody>
          <a:bodyPr wrap="none" rtlCol="0">
            <a:spAutoFit/>
          </a:bodyPr>
          <a:lstStyle/>
          <a:p>
            <a:pPr algn="ctr"/>
            <a:r>
              <a:rPr lang="en-IN" dirty="0"/>
              <a:t>Data Source: </a:t>
            </a:r>
            <a:r>
              <a:rPr lang="en-IN" dirty="0">
                <a:hlinkClick r:id="rId4"/>
              </a:rPr>
              <a:t>Government of Canada; Natural Resources Canada; Canada Centre for Remote Sensing</a:t>
            </a:r>
            <a:endParaRPr lang="en-IN" dirty="0"/>
          </a:p>
        </p:txBody>
      </p:sp>
    </p:spTree>
    <p:extLst>
      <p:ext uri="{BB962C8B-B14F-4D97-AF65-F5344CB8AC3E}">
        <p14:creationId xmlns:p14="http://schemas.microsoft.com/office/powerpoint/2010/main" val="60705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376687" y="795"/>
            <a:ext cx="11438626" cy="1325563"/>
          </a:xfrm>
        </p:spPr>
        <p:txBody>
          <a:bodyPr>
            <a:normAutofit/>
          </a:bodyPr>
          <a:lstStyle/>
          <a:p>
            <a:pPr algn="ctr"/>
            <a:r>
              <a:rPr lang="en-IN" sz="4000" b="1" dirty="0">
                <a:solidFill>
                  <a:schemeClr val="tx1">
                    <a:lumMod val="85000"/>
                    <a:lumOff val="15000"/>
                  </a:schemeClr>
                </a:solidFill>
                <a:latin typeface="Montserrat" panose="00000500000000000000" pitchFamily="2" charset="0"/>
              </a:rPr>
              <a:t>WEATHER STATIONS AND TEMPERATURE</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pic>
        <p:nvPicPr>
          <p:cNvPr id="4" name="Content Placeholder 3" descr="A map of ontario temperature recording stations&#10;&#10;Description automatically generated">
            <a:extLst>
              <a:ext uri="{FF2B5EF4-FFF2-40B4-BE49-F238E27FC236}">
                <a16:creationId xmlns:a16="http://schemas.microsoft.com/office/drawing/2014/main" id="{37A60F02-0A60-98B7-D4A6-82C45C284092}"/>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24675" t="2813" r="24878"/>
          <a:stretch/>
        </p:blipFill>
        <p:spPr>
          <a:xfrm>
            <a:off x="376686" y="955113"/>
            <a:ext cx="4673243" cy="5816462"/>
          </a:xfrm>
        </p:spPr>
      </p:pic>
      <p:sp>
        <p:nvSpPr>
          <p:cNvPr id="2" name="TextBox 1">
            <a:extLst>
              <a:ext uri="{FF2B5EF4-FFF2-40B4-BE49-F238E27FC236}">
                <a16:creationId xmlns:a16="http://schemas.microsoft.com/office/drawing/2014/main" id="{1D6C6E61-982E-3E8B-330D-3F9BE91DA6A5}"/>
              </a:ext>
            </a:extLst>
          </p:cNvPr>
          <p:cNvSpPr txBox="1"/>
          <p:nvPr/>
        </p:nvSpPr>
        <p:spPr>
          <a:xfrm>
            <a:off x="5359043" y="2056824"/>
            <a:ext cx="6456270" cy="36130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IN" sz="2000" dirty="0">
                <a:cs typeface="Arial"/>
              </a:rPr>
              <a:t>187 weather stations within Ontario</a:t>
            </a:r>
          </a:p>
          <a:p>
            <a:pPr>
              <a:lnSpc>
                <a:spcPct val="90000"/>
              </a:lnSpc>
              <a:spcBef>
                <a:spcPts val="1000"/>
              </a:spcBef>
            </a:pPr>
            <a:endParaRPr lang="en-IN" sz="2000" dirty="0">
              <a:cs typeface="Arial"/>
            </a:endParaRPr>
          </a:p>
          <a:p>
            <a:pPr marL="285750" indent="-285750">
              <a:lnSpc>
                <a:spcPct val="90000"/>
              </a:lnSpc>
              <a:spcBef>
                <a:spcPts val="1000"/>
              </a:spcBef>
              <a:buFont typeface="Arial"/>
              <a:buChar char="•"/>
            </a:pPr>
            <a:r>
              <a:rPr lang="en-IN" sz="2000" dirty="0">
                <a:cs typeface="Arial"/>
              </a:rPr>
              <a:t>Data includes:</a:t>
            </a:r>
          </a:p>
          <a:p>
            <a:pPr marL="742950" lvl="1" indent="-285750">
              <a:lnSpc>
                <a:spcPct val="90000"/>
              </a:lnSpc>
              <a:spcBef>
                <a:spcPts val="1000"/>
              </a:spcBef>
              <a:buFont typeface="Arial"/>
              <a:buChar char="•"/>
            </a:pPr>
            <a:r>
              <a:rPr lang="en-IN" sz="2000" dirty="0">
                <a:cs typeface="Arial"/>
              </a:rPr>
              <a:t>Mean, Minimum and Maximum Temperatures (°C)</a:t>
            </a:r>
          </a:p>
          <a:p>
            <a:pPr marL="742950" lvl="1" indent="-285750">
              <a:lnSpc>
                <a:spcPct val="90000"/>
              </a:lnSpc>
              <a:spcBef>
                <a:spcPts val="1000"/>
              </a:spcBef>
              <a:buFont typeface="Arial"/>
              <a:buChar char="•"/>
            </a:pPr>
            <a:r>
              <a:rPr lang="en-IN" sz="2000" dirty="0">
                <a:cs typeface="Arial"/>
              </a:rPr>
              <a:t>Total Precipitation (mm)</a:t>
            </a:r>
          </a:p>
          <a:p>
            <a:pPr marL="742950" lvl="1" indent="-285750">
              <a:lnSpc>
                <a:spcPct val="90000"/>
              </a:lnSpc>
              <a:spcBef>
                <a:spcPts val="1000"/>
              </a:spcBef>
              <a:buFont typeface="Arial"/>
              <a:buChar char="•"/>
            </a:pPr>
            <a:endParaRPr lang="en-IN" sz="2000" dirty="0">
              <a:cs typeface="Arial"/>
            </a:endParaRPr>
          </a:p>
          <a:p>
            <a:pPr marL="285750" indent="-285750">
              <a:lnSpc>
                <a:spcPct val="90000"/>
              </a:lnSpc>
              <a:spcBef>
                <a:spcPts val="1000"/>
              </a:spcBef>
              <a:buFont typeface="Arial"/>
              <a:buChar char="•"/>
            </a:pPr>
            <a:r>
              <a:rPr lang="en-IN" sz="2000" dirty="0">
                <a:cs typeface="Arial"/>
              </a:rPr>
              <a:t>Temporal Length: 1 year (2023)</a:t>
            </a:r>
          </a:p>
          <a:p>
            <a:pPr marL="285750" indent="-285750">
              <a:lnSpc>
                <a:spcPct val="90000"/>
              </a:lnSpc>
              <a:spcBef>
                <a:spcPts val="1000"/>
              </a:spcBef>
              <a:buFont typeface="Arial"/>
              <a:buChar char="•"/>
            </a:pPr>
            <a:endParaRPr lang="en-IN" sz="2000" dirty="0">
              <a:cs typeface="Arial"/>
            </a:endParaRPr>
          </a:p>
          <a:p>
            <a:pPr marL="285750" indent="-285750">
              <a:lnSpc>
                <a:spcPct val="90000"/>
              </a:lnSpc>
              <a:spcBef>
                <a:spcPts val="1000"/>
              </a:spcBef>
              <a:buFont typeface="Arial"/>
              <a:buChar char="•"/>
            </a:pPr>
            <a:r>
              <a:rPr lang="en-IN" sz="2000" dirty="0">
                <a:cs typeface="Arial"/>
              </a:rPr>
              <a:t>Temporal Resolution: Monthly</a:t>
            </a:r>
          </a:p>
        </p:txBody>
      </p:sp>
      <p:sp>
        <p:nvSpPr>
          <p:cNvPr id="3" name="TextBox 2">
            <a:extLst>
              <a:ext uri="{FF2B5EF4-FFF2-40B4-BE49-F238E27FC236}">
                <a16:creationId xmlns:a16="http://schemas.microsoft.com/office/drawing/2014/main" id="{21EA32A1-223F-2AB8-2D88-D1D44BC16D62}"/>
              </a:ext>
            </a:extLst>
          </p:cNvPr>
          <p:cNvSpPr txBox="1"/>
          <p:nvPr/>
        </p:nvSpPr>
        <p:spPr>
          <a:xfrm>
            <a:off x="7980224" y="6400330"/>
            <a:ext cx="3835089" cy="369332"/>
          </a:xfrm>
          <a:prstGeom prst="rect">
            <a:avLst/>
          </a:prstGeom>
          <a:noFill/>
        </p:spPr>
        <p:txBody>
          <a:bodyPr wrap="none" rtlCol="0">
            <a:spAutoFit/>
          </a:bodyPr>
          <a:lstStyle/>
          <a:p>
            <a:pPr algn="r"/>
            <a:r>
              <a:rPr lang="en-IN" dirty="0"/>
              <a:t>Data Source: </a:t>
            </a:r>
            <a:r>
              <a:rPr lang="en-IN" dirty="0">
                <a:hlinkClick r:id="rId4"/>
              </a:rPr>
              <a:t>Government of Canada</a:t>
            </a:r>
            <a:endParaRPr lang="en-IN" dirty="0"/>
          </a:p>
        </p:txBody>
      </p:sp>
    </p:spTree>
    <p:extLst>
      <p:ext uri="{BB962C8B-B14F-4D97-AF65-F5344CB8AC3E}">
        <p14:creationId xmlns:p14="http://schemas.microsoft.com/office/powerpoint/2010/main" val="3419875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295900" y="0"/>
            <a:ext cx="6629400" cy="1325563"/>
          </a:xfrm>
        </p:spPr>
        <p:txBody>
          <a:bodyPr>
            <a:normAutofit/>
          </a:bodyPr>
          <a:lstStyle/>
          <a:p>
            <a:pPr algn="l"/>
            <a:r>
              <a:rPr lang="en-IN" sz="4000" b="1" dirty="0">
                <a:solidFill>
                  <a:schemeClr val="tx1">
                    <a:lumMod val="85000"/>
                    <a:lumOff val="15000"/>
                  </a:schemeClr>
                </a:solidFill>
                <a:latin typeface="Montserrat" panose="00000500000000000000" pitchFamily="2" charset="0"/>
              </a:rPr>
              <a:t>BUILDING FOOTPRINTS</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pic>
        <p:nvPicPr>
          <p:cNvPr id="4" name="Content Placeholder 3" descr="A map of a city&#10;&#10;Description automatically generated">
            <a:extLst>
              <a:ext uri="{FF2B5EF4-FFF2-40B4-BE49-F238E27FC236}">
                <a16:creationId xmlns:a16="http://schemas.microsoft.com/office/drawing/2014/main" id="{849DB2BD-01AB-BD1A-3604-C84AC6F2DA13}"/>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14753" t="2953" r="15060"/>
          <a:stretch/>
        </p:blipFill>
        <p:spPr>
          <a:xfrm>
            <a:off x="5331883" y="1209474"/>
            <a:ext cx="6412229" cy="5471671"/>
          </a:xfrm>
        </p:spPr>
      </p:pic>
      <p:pic>
        <p:nvPicPr>
          <p:cNvPr id="2" name="Content Placeholder 1" descr="A map of canada with black and white text&#10;&#10;Description automatically generated">
            <a:extLst>
              <a:ext uri="{FF2B5EF4-FFF2-40B4-BE49-F238E27FC236}">
                <a16:creationId xmlns:a16="http://schemas.microsoft.com/office/drawing/2014/main" id="{4415ACEB-5402-5A1B-54A1-E415C3F78E15}"/>
              </a:ext>
            </a:extLst>
          </p:cNvPr>
          <p:cNvPicPr>
            <a:picLocks noGrp="1" noChangeAspect="1"/>
          </p:cNvPicPr>
          <p:nvPr>
            <p:ph sz="half" idx="2"/>
          </p:nvPr>
        </p:nvPicPr>
        <p:blipFill>
          <a:blip r:embed="rId4"/>
          <a:stretch>
            <a:fillRect/>
          </a:stretch>
        </p:blipFill>
        <p:spPr>
          <a:xfrm>
            <a:off x="138110" y="386369"/>
            <a:ext cx="5188795" cy="6085261"/>
          </a:xfrm>
        </p:spPr>
      </p:pic>
      <p:sp>
        <p:nvSpPr>
          <p:cNvPr id="7" name="Rectangle 6">
            <a:extLst>
              <a:ext uri="{FF2B5EF4-FFF2-40B4-BE49-F238E27FC236}">
                <a16:creationId xmlns:a16="http://schemas.microsoft.com/office/drawing/2014/main" id="{207741EB-F72F-EEEB-4A31-543453FCFC25}"/>
              </a:ext>
            </a:extLst>
          </p:cNvPr>
          <p:cNvSpPr/>
          <p:nvPr/>
        </p:nvSpPr>
        <p:spPr>
          <a:xfrm>
            <a:off x="5451951" y="1117024"/>
            <a:ext cx="4502068" cy="4573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200" dirty="0">
                <a:solidFill>
                  <a:schemeClr val="tx1"/>
                </a:solidFill>
                <a:latin typeface="Arial" panose="020B0604020202020204" pitchFamily="34" charset="0"/>
                <a:cs typeface="Arial" panose="020B0604020202020204" pitchFamily="34" charset="0"/>
              </a:rPr>
              <a:t>Toronto Building Footprints</a:t>
            </a:r>
          </a:p>
        </p:txBody>
      </p:sp>
      <p:sp>
        <p:nvSpPr>
          <p:cNvPr id="8" name="TextBox 7">
            <a:extLst>
              <a:ext uri="{FF2B5EF4-FFF2-40B4-BE49-F238E27FC236}">
                <a16:creationId xmlns:a16="http://schemas.microsoft.com/office/drawing/2014/main" id="{22781529-52E2-A8F3-101B-C09F2E5F324C}"/>
              </a:ext>
            </a:extLst>
          </p:cNvPr>
          <p:cNvSpPr txBox="1"/>
          <p:nvPr/>
        </p:nvSpPr>
        <p:spPr>
          <a:xfrm>
            <a:off x="265293" y="6496479"/>
            <a:ext cx="2467214" cy="369332"/>
          </a:xfrm>
          <a:prstGeom prst="rect">
            <a:avLst/>
          </a:prstGeom>
          <a:noFill/>
        </p:spPr>
        <p:txBody>
          <a:bodyPr wrap="none" rtlCol="0">
            <a:spAutoFit/>
          </a:bodyPr>
          <a:lstStyle/>
          <a:p>
            <a:r>
              <a:rPr lang="en-IN" dirty="0"/>
              <a:t>Data Source: </a:t>
            </a:r>
            <a:r>
              <a:rPr lang="en-IN" dirty="0">
                <a:hlinkClick r:id="rId5"/>
              </a:rPr>
              <a:t>Microsoft</a:t>
            </a:r>
            <a:endParaRPr lang="en-IN" dirty="0"/>
          </a:p>
        </p:txBody>
      </p:sp>
    </p:spTree>
    <p:extLst>
      <p:ext uri="{BB962C8B-B14F-4D97-AF65-F5344CB8AC3E}">
        <p14:creationId xmlns:p14="http://schemas.microsoft.com/office/powerpoint/2010/main" val="2851416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3" name="Content Placeholder 2">
            <a:extLst>
              <a:ext uri="{FF2B5EF4-FFF2-40B4-BE49-F238E27FC236}">
                <a16:creationId xmlns:a16="http://schemas.microsoft.com/office/drawing/2014/main" id="{C4681FC0-30D0-A649-21AC-35F624BAEE40}"/>
              </a:ext>
            </a:extLst>
          </p:cNvPr>
          <p:cNvSpPr>
            <a:spLocks noGrp="1"/>
          </p:cNvSpPr>
          <p:nvPr>
            <p:ph sz="half" idx="1"/>
          </p:nvPr>
        </p:nvSpPr>
        <p:spPr>
          <a:xfrm>
            <a:off x="433956" y="663319"/>
            <a:ext cx="4350949" cy="5527557"/>
          </a:xfrm>
        </p:spPr>
        <p:txBody>
          <a:bodyPr vert="horz" lIns="91440" tIns="45720" rIns="91440" bIns="45720" rtlCol="0" anchor="t">
            <a:normAutofit/>
          </a:bodyPr>
          <a:lstStyle/>
          <a:p>
            <a:r>
              <a:rPr lang="en-US" dirty="0"/>
              <a:t>Numerical indicator used to quantify healthy green</a:t>
            </a:r>
          </a:p>
          <a:p>
            <a:endParaRPr lang="en-IN" dirty="0"/>
          </a:p>
          <a:p>
            <a:r>
              <a:rPr lang="en-IN" dirty="0"/>
              <a:t>NDVI &gt; 0: Represents vegetated areas</a:t>
            </a:r>
          </a:p>
          <a:p>
            <a:endParaRPr lang="en-IN" dirty="0"/>
          </a:p>
          <a:p>
            <a:r>
              <a:rPr lang="en-IN" dirty="0"/>
              <a:t>NDVI = 0: Indicates bare soil or rock</a:t>
            </a:r>
          </a:p>
          <a:p>
            <a:endParaRPr lang="en-IN" dirty="0"/>
          </a:p>
          <a:p>
            <a:r>
              <a:rPr lang="en-IN" dirty="0"/>
              <a:t>NDVI &lt; 0: Represents water bodies or clouds</a:t>
            </a:r>
          </a:p>
        </p:txBody>
      </p:sp>
      <p:pic>
        <p:nvPicPr>
          <p:cNvPr id="2" name="Content Placeholder 1" descr="A map of the state of canada&#10;&#10;Description automatically generated">
            <a:extLst>
              <a:ext uri="{FF2B5EF4-FFF2-40B4-BE49-F238E27FC236}">
                <a16:creationId xmlns:a16="http://schemas.microsoft.com/office/drawing/2014/main" id="{1105FB40-73A4-1C9D-7F7A-596C3051718C}"/>
              </a:ext>
            </a:extLst>
          </p:cNvPr>
          <p:cNvPicPr>
            <a:picLocks noGrp="1" noChangeAspect="1"/>
          </p:cNvPicPr>
          <p:nvPr>
            <p:ph sz="half" idx="2"/>
          </p:nvPr>
        </p:nvPicPr>
        <p:blipFill rotWithShape="1">
          <a:blip r:embed="rId3"/>
          <a:srcRect l="7199" t="2963" r="2756"/>
          <a:stretch/>
        </p:blipFill>
        <p:spPr>
          <a:xfrm>
            <a:off x="4937305" y="200026"/>
            <a:ext cx="7015012" cy="6454144"/>
          </a:xfrm>
        </p:spPr>
      </p:pic>
      <p:sp>
        <p:nvSpPr>
          <p:cNvPr id="4" name="TextBox 3">
            <a:extLst>
              <a:ext uri="{FF2B5EF4-FFF2-40B4-BE49-F238E27FC236}">
                <a16:creationId xmlns:a16="http://schemas.microsoft.com/office/drawing/2014/main" id="{F0411439-F609-8991-E5ED-2B42E62248B9}"/>
              </a:ext>
            </a:extLst>
          </p:cNvPr>
          <p:cNvSpPr txBox="1"/>
          <p:nvPr/>
        </p:nvSpPr>
        <p:spPr>
          <a:xfrm>
            <a:off x="2087345" y="6472728"/>
            <a:ext cx="7864910" cy="369332"/>
          </a:xfrm>
          <a:prstGeom prst="rect">
            <a:avLst/>
          </a:prstGeom>
          <a:noFill/>
        </p:spPr>
        <p:txBody>
          <a:bodyPr wrap="none" rtlCol="0">
            <a:spAutoFit/>
          </a:bodyPr>
          <a:lstStyle/>
          <a:p>
            <a:pPr algn="ctr"/>
            <a:r>
              <a:rPr lang="en-IN" dirty="0"/>
              <a:t>Data Source: </a:t>
            </a:r>
            <a:r>
              <a:rPr lang="en-IN" dirty="0">
                <a:hlinkClick r:id="rId4"/>
              </a:rPr>
              <a:t>NOAA National </a:t>
            </a:r>
            <a:r>
              <a:rPr lang="en-IN" dirty="0" err="1">
                <a:hlinkClick r:id="rId4"/>
              </a:rPr>
              <a:t>Centers</a:t>
            </a:r>
            <a:r>
              <a:rPr lang="en-IN" dirty="0">
                <a:hlinkClick r:id="rId4"/>
              </a:rPr>
              <a:t> for Environmental Information Metadata</a:t>
            </a:r>
            <a:endParaRPr lang="en-IN" dirty="0"/>
          </a:p>
        </p:txBody>
      </p:sp>
    </p:spTree>
    <p:extLst>
      <p:ext uri="{BB962C8B-B14F-4D97-AF65-F5344CB8AC3E}">
        <p14:creationId xmlns:p14="http://schemas.microsoft.com/office/powerpoint/2010/main" val="351925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pic>
        <p:nvPicPr>
          <p:cNvPr id="4" name="Content Placeholder 3" descr="A map of canada with numbers and a number of people&#10;&#10;Description automatically generated">
            <a:extLst>
              <a:ext uri="{FF2B5EF4-FFF2-40B4-BE49-F238E27FC236}">
                <a16:creationId xmlns:a16="http://schemas.microsoft.com/office/drawing/2014/main" id="{C69D00C1-9B0A-6E48-A752-82BCA554C0A7}"/>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9744" t="3174" r="18030"/>
          <a:stretch/>
        </p:blipFill>
        <p:spPr>
          <a:xfrm>
            <a:off x="166256" y="1314339"/>
            <a:ext cx="6281815" cy="5357092"/>
          </a:xfrm>
        </p:spPr>
      </p:pic>
      <p:pic>
        <p:nvPicPr>
          <p:cNvPr id="3" name="Content Placeholder 2" descr="A map of the state of canada&#10;&#10;Description automatically generated">
            <a:extLst>
              <a:ext uri="{FF2B5EF4-FFF2-40B4-BE49-F238E27FC236}">
                <a16:creationId xmlns:a16="http://schemas.microsoft.com/office/drawing/2014/main" id="{8D79DA10-83ED-308D-FB27-0CA9F799DEEC}"/>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t="13131" r="30528" b="10158"/>
          <a:stretch/>
        </p:blipFill>
        <p:spPr>
          <a:xfrm>
            <a:off x="6361867" y="129486"/>
            <a:ext cx="5663877" cy="4185853"/>
          </a:xfrm>
        </p:spPr>
      </p:pic>
      <p:sp>
        <p:nvSpPr>
          <p:cNvPr id="9" name="TextBox 8">
            <a:extLst>
              <a:ext uri="{FF2B5EF4-FFF2-40B4-BE49-F238E27FC236}">
                <a16:creationId xmlns:a16="http://schemas.microsoft.com/office/drawing/2014/main" id="{8272FEC7-2383-2AB3-6987-D8C6B5119549}"/>
              </a:ext>
            </a:extLst>
          </p:cNvPr>
          <p:cNvSpPr txBox="1"/>
          <p:nvPr/>
        </p:nvSpPr>
        <p:spPr>
          <a:xfrm>
            <a:off x="5569474" y="4811200"/>
            <a:ext cx="6456270" cy="1181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IN" sz="2000" dirty="0">
                <a:cs typeface="Arial"/>
              </a:rPr>
              <a:t>Data Includes:</a:t>
            </a:r>
          </a:p>
          <a:p>
            <a:pPr marL="742950" lvl="1" indent="-285750">
              <a:lnSpc>
                <a:spcPct val="90000"/>
              </a:lnSpc>
              <a:spcBef>
                <a:spcPts val="1000"/>
              </a:spcBef>
              <a:buFont typeface="Arial"/>
              <a:buChar char="•"/>
            </a:pPr>
            <a:r>
              <a:rPr lang="en-IN" sz="2000" dirty="0">
                <a:cs typeface="Arial"/>
              </a:rPr>
              <a:t>Population in 2021</a:t>
            </a:r>
          </a:p>
          <a:p>
            <a:pPr marL="742950" lvl="1" indent="-285750">
              <a:lnSpc>
                <a:spcPct val="90000"/>
              </a:lnSpc>
              <a:spcBef>
                <a:spcPts val="1000"/>
              </a:spcBef>
              <a:buFont typeface="Arial"/>
              <a:buChar char="•"/>
            </a:pPr>
            <a:r>
              <a:rPr lang="en-IN" sz="2000" dirty="0">
                <a:cs typeface="Arial"/>
              </a:rPr>
              <a:t>Land Area (in square kilometres)</a:t>
            </a:r>
          </a:p>
        </p:txBody>
      </p:sp>
      <p:sp>
        <p:nvSpPr>
          <p:cNvPr id="10" name="TextBox 9">
            <a:extLst>
              <a:ext uri="{FF2B5EF4-FFF2-40B4-BE49-F238E27FC236}">
                <a16:creationId xmlns:a16="http://schemas.microsoft.com/office/drawing/2014/main" id="{FFB7A603-1331-7716-E703-AECA7D0D64A8}"/>
              </a:ext>
            </a:extLst>
          </p:cNvPr>
          <p:cNvSpPr txBox="1"/>
          <p:nvPr/>
        </p:nvSpPr>
        <p:spPr>
          <a:xfrm>
            <a:off x="6725318" y="6488668"/>
            <a:ext cx="5300426" cy="369332"/>
          </a:xfrm>
          <a:prstGeom prst="rect">
            <a:avLst/>
          </a:prstGeom>
          <a:noFill/>
        </p:spPr>
        <p:txBody>
          <a:bodyPr wrap="none" rtlCol="0">
            <a:spAutoFit/>
          </a:bodyPr>
          <a:lstStyle/>
          <a:p>
            <a:pPr algn="r"/>
            <a:r>
              <a:rPr lang="en-IN" dirty="0"/>
              <a:t>Data Source: </a:t>
            </a:r>
            <a:r>
              <a:rPr lang="en-IN" dirty="0" err="1">
                <a:hlinkClick r:id="rId5"/>
              </a:rPr>
              <a:t>CensusMapper</a:t>
            </a:r>
            <a:r>
              <a:rPr lang="en-IN" dirty="0">
                <a:hlinkClick r:id="rId5"/>
              </a:rPr>
              <a:t> API, Statistics Canada</a:t>
            </a:r>
            <a:endParaRPr lang="en-IN" dirty="0"/>
          </a:p>
        </p:txBody>
      </p:sp>
      <p:sp>
        <p:nvSpPr>
          <p:cNvPr id="11" name="Title 4">
            <a:extLst>
              <a:ext uri="{FF2B5EF4-FFF2-40B4-BE49-F238E27FC236}">
                <a16:creationId xmlns:a16="http://schemas.microsoft.com/office/drawing/2014/main" id="{8A2FE5E8-3F2E-3E4E-44E4-1FC3144A7DFD}"/>
              </a:ext>
            </a:extLst>
          </p:cNvPr>
          <p:cNvSpPr>
            <a:spLocks noGrp="1"/>
          </p:cNvSpPr>
          <p:nvPr>
            <p:ph type="title"/>
          </p:nvPr>
        </p:nvSpPr>
        <p:spPr>
          <a:xfrm>
            <a:off x="166256" y="-11224"/>
            <a:ext cx="5107708" cy="1325563"/>
          </a:xfrm>
        </p:spPr>
        <p:txBody>
          <a:bodyPr>
            <a:normAutofit/>
          </a:bodyPr>
          <a:lstStyle/>
          <a:p>
            <a:pPr algn="l"/>
            <a:r>
              <a:rPr lang="en-IN" sz="4000" b="1" dirty="0">
                <a:solidFill>
                  <a:schemeClr val="tx1">
                    <a:lumMod val="85000"/>
                    <a:lumOff val="15000"/>
                  </a:schemeClr>
                </a:solidFill>
                <a:latin typeface="Montserrat" panose="00000500000000000000" pitchFamily="2" charset="0"/>
              </a:rPr>
              <a:t>CANADA CENSUS</a:t>
            </a:r>
          </a:p>
        </p:txBody>
      </p:sp>
    </p:spTree>
    <p:extLst>
      <p:ext uri="{BB962C8B-B14F-4D97-AF65-F5344CB8AC3E}">
        <p14:creationId xmlns:p14="http://schemas.microsoft.com/office/powerpoint/2010/main" val="560565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srcRect/>
          <a:stretch/>
        </p:blipFill>
        <p:spPr>
          <a:xfrm>
            <a:off x="-1" y="10"/>
            <a:ext cx="12192001" cy="6857990"/>
          </a:xfrm>
          <a:prstGeom prst="rect">
            <a:avLst/>
          </a:prstGeom>
        </p:spPr>
      </p:pic>
      <p:sp>
        <p:nvSpPr>
          <p:cNvPr id="464" name="Rectangle 463">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DD27B21-D0A2-CC8B-E9FA-FD6566411793}"/>
              </a:ext>
            </a:extLst>
          </p:cNvPr>
          <p:cNvSpPr>
            <a:spLocks noGrp="1"/>
          </p:cNvSpPr>
          <p:nvPr>
            <p:ph type="ctrTitle"/>
          </p:nvPr>
        </p:nvSpPr>
        <p:spPr>
          <a:xfrm>
            <a:off x="2276475" y="2247900"/>
            <a:ext cx="7581900" cy="2514600"/>
          </a:xfrm>
        </p:spPr>
        <p:txBody>
          <a:bodyPr vert="horz" lIns="91440" tIns="45720" rIns="91440" bIns="45720" rtlCol="0" anchor="ctr">
            <a:normAutofit/>
          </a:bodyPr>
          <a:lstStyle/>
          <a:p>
            <a:r>
              <a:rPr lang="en-US" sz="6600" b="1">
                <a:solidFill>
                  <a:schemeClr val="tx1">
                    <a:lumMod val="75000"/>
                    <a:lumOff val="25000"/>
                  </a:schemeClr>
                </a:solidFill>
              </a:rPr>
              <a:t>ANALYSIS</a:t>
            </a:r>
          </a:p>
        </p:txBody>
      </p:sp>
    </p:spTree>
    <p:extLst>
      <p:ext uri="{BB962C8B-B14F-4D97-AF65-F5344CB8AC3E}">
        <p14:creationId xmlns:p14="http://schemas.microsoft.com/office/powerpoint/2010/main" val="131852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pPr algn="l"/>
            <a:r>
              <a:rPr lang="en-IN" sz="4000" b="1">
                <a:solidFill>
                  <a:schemeClr val="tx1">
                    <a:lumMod val="85000"/>
                    <a:lumOff val="15000"/>
                  </a:schemeClr>
                </a:solidFill>
                <a:latin typeface="Montserrat" panose="00000500000000000000" pitchFamily="2" charset="0"/>
              </a:rPr>
              <a:t>ANALYSIS METHODS</a:t>
            </a:r>
          </a:p>
        </p:txBody>
      </p:sp>
      <p:sp>
        <p:nvSpPr>
          <p:cNvPr id="8" name="Subtitle 7">
            <a:extLst>
              <a:ext uri="{FF2B5EF4-FFF2-40B4-BE49-F238E27FC236}">
                <a16:creationId xmlns:a16="http://schemas.microsoft.com/office/drawing/2014/main" id="{3E60E119-14F3-487A-5467-395944481AB0}"/>
              </a:ext>
            </a:extLst>
          </p:cNvPr>
          <p:cNvSpPr>
            <a:spLocks noGrp="1"/>
          </p:cNvSpPr>
          <p:nvPr>
            <p:ph sz="half" idx="1"/>
          </p:nvPr>
        </p:nvSpPr>
        <p:spPr>
          <a:xfrm>
            <a:off x="990601" y="2371724"/>
            <a:ext cx="4724399" cy="3752849"/>
          </a:xfrm>
        </p:spPr>
        <p:txBody>
          <a:bodyPr>
            <a:normAutofit/>
          </a:bodyPr>
          <a:lstStyle/>
          <a:p>
            <a:pPr marL="0" indent="0" algn="l">
              <a:lnSpc>
                <a:spcPct val="120000"/>
              </a:lnSpc>
              <a:buNone/>
            </a:pPr>
            <a:r>
              <a:rPr lang="en-US" sz="2400" b="1" dirty="0">
                <a:solidFill>
                  <a:schemeClr val="bg1">
                    <a:lumMod val="95000"/>
                  </a:schemeClr>
                </a:solidFill>
              </a:rPr>
              <a:t>Steps for Deriving and Predicting Heat Island Effect</a:t>
            </a:r>
          </a:p>
          <a:p>
            <a:pPr>
              <a:lnSpc>
                <a:spcPct val="120000"/>
              </a:lnSpc>
            </a:pPr>
            <a:r>
              <a:rPr lang="en-US" sz="2400" dirty="0">
                <a:solidFill>
                  <a:schemeClr val="bg1">
                    <a:lumMod val="95000"/>
                  </a:schemeClr>
                </a:solidFill>
              </a:rPr>
              <a:t>Handling missing values</a:t>
            </a:r>
          </a:p>
          <a:p>
            <a:pPr>
              <a:lnSpc>
                <a:spcPct val="120000"/>
              </a:lnSpc>
            </a:pPr>
            <a:r>
              <a:rPr lang="en-US" sz="2400" dirty="0">
                <a:solidFill>
                  <a:schemeClr val="bg1">
                    <a:lumMod val="95000"/>
                  </a:schemeClr>
                </a:solidFill>
              </a:rPr>
              <a:t>Aligning datasets</a:t>
            </a:r>
          </a:p>
          <a:p>
            <a:pPr>
              <a:lnSpc>
                <a:spcPct val="120000"/>
              </a:lnSpc>
            </a:pPr>
            <a:r>
              <a:rPr lang="en-US" sz="2400" dirty="0">
                <a:solidFill>
                  <a:schemeClr val="bg1">
                    <a:lumMod val="95000"/>
                  </a:schemeClr>
                </a:solidFill>
              </a:rPr>
              <a:t>Estimating temperature</a:t>
            </a:r>
          </a:p>
        </p:txBody>
      </p:sp>
      <p:sp>
        <p:nvSpPr>
          <p:cNvPr id="9" name="Content Placeholder 8">
            <a:extLst>
              <a:ext uri="{FF2B5EF4-FFF2-40B4-BE49-F238E27FC236}">
                <a16:creationId xmlns:a16="http://schemas.microsoft.com/office/drawing/2014/main" id="{CB0D691E-0650-3E54-78E8-CE48A71E7391}"/>
              </a:ext>
            </a:extLst>
          </p:cNvPr>
          <p:cNvSpPr>
            <a:spLocks noGrp="1"/>
          </p:cNvSpPr>
          <p:nvPr>
            <p:ph sz="half" idx="2"/>
          </p:nvPr>
        </p:nvSpPr>
        <p:spPr>
          <a:xfrm>
            <a:off x="6096000" y="2371723"/>
            <a:ext cx="5105401" cy="3752851"/>
          </a:xfrm>
        </p:spPr>
        <p:txBody>
          <a:bodyPr>
            <a:noAutofit/>
          </a:bodyPr>
          <a:lstStyle/>
          <a:p>
            <a:pPr marL="0" indent="0" algn="l">
              <a:buNone/>
            </a:pPr>
            <a:r>
              <a:rPr lang="en-US" sz="2400" b="1">
                <a:solidFill>
                  <a:schemeClr val="bg1">
                    <a:lumMod val="95000"/>
                  </a:schemeClr>
                </a:solidFill>
              </a:rPr>
              <a:t>Correlation Analysis, Regression Models, and Validation Metrics</a:t>
            </a:r>
          </a:p>
          <a:p>
            <a:r>
              <a:rPr lang="en-US" sz="2400">
                <a:solidFill>
                  <a:schemeClr val="bg1">
                    <a:lumMod val="95000"/>
                  </a:schemeClr>
                </a:solidFill>
              </a:rPr>
              <a:t>Identify relationships between temperature and geospatial features</a:t>
            </a:r>
          </a:p>
          <a:p>
            <a:r>
              <a:rPr lang="en-US" sz="2400">
                <a:solidFill>
                  <a:schemeClr val="bg1">
                    <a:lumMod val="95000"/>
                  </a:schemeClr>
                </a:solidFill>
              </a:rPr>
              <a:t>Use statistical models to predict HIE based on input features</a:t>
            </a:r>
          </a:p>
          <a:p>
            <a:r>
              <a:rPr lang="en-US" sz="2400">
                <a:solidFill>
                  <a:schemeClr val="bg1">
                    <a:lumMod val="95000"/>
                  </a:schemeClr>
                </a:solidFill>
              </a:rPr>
              <a:t>Describe metrics used to assess model performance (e.g., R², RMSE)</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3985602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6" name="Content Placeholder 5">
            <a:extLst>
              <a:ext uri="{FF2B5EF4-FFF2-40B4-BE49-F238E27FC236}">
                <a16:creationId xmlns:a16="http://schemas.microsoft.com/office/drawing/2014/main" id="{0E26B113-75F5-EF51-47F2-755AF4E586FD}"/>
              </a:ext>
            </a:extLst>
          </p:cNvPr>
          <p:cNvSpPr>
            <a:spLocks noGrp="1"/>
          </p:cNvSpPr>
          <p:nvPr>
            <p:ph sz="half" idx="2"/>
          </p:nvPr>
        </p:nvSpPr>
        <p:spPr>
          <a:xfrm>
            <a:off x="156714" y="120583"/>
            <a:ext cx="3513285" cy="6056117"/>
          </a:xfrm>
        </p:spPr>
        <p:txBody>
          <a:bodyPr vert="horz" lIns="91440" tIns="45720" rIns="91440" bIns="45720" rtlCol="0" anchor="t">
            <a:normAutofit/>
          </a:bodyPr>
          <a:lstStyle/>
          <a:p>
            <a:endParaRPr lang="en-IN" sz="2400" dirty="0"/>
          </a:p>
          <a:p>
            <a:endParaRPr lang="en-IN" sz="2400" dirty="0"/>
          </a:p>
          <a:p>
            <a:endParaRPr lang="en-IN" sz="2400" dirty="0"/>
          </a:p>
          <a:p>
            <a:endParaRPr lang="en-IN" sz="2400" dirty="0"/>
          </a:p>
          <a:p>
            <a:endParaRPr lang="en-IN" sz="2400" dirty="0"/>
          </a:p>
          <a:p>
            <a:r>
              <a:rPr lang="en-IN" sz="2400" dirty="0"/>
              <a:t>Temperature estimates can be derived from </a:t>
            </a:r>
            <a:r>
              <a:rPr lang="en-IN" sz="2400" dirty="0" err="1"/>
              <a:t>theweather</a:t>
            </a:r>
            <a:r>
              <a:rPr lang="en-IN" sz="2400" dirty="0"/>
              <a:t> recording stations using Inverse Distance Weighting</a:t>
            </a:r>
            <a:endParaRPr lang="en-IN" dirty="0"/>
          </a:p>
        </p:txBody>
      </p:sp>
      <p:pic>
        <p:nvPicPr>
          <p:cNvPr id="16" name="Content Placeholder 15" descr="A map of the state of california&#10;&#10;Description automatically generated">
            <a:extLst>
              <a:ext uri="{FF2B5EF4-FFF2-40B4-BE49-F238E27FC236}">
                <a16:creationId xmlns:a16="http://schemas.microsoft.com/office/drawing/2014/main" id="{9397417E-14EF-4941-72A5-C2D4501A9D7F}"/>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9743" t="4403" r="11581"/>
          <a:stretch/>
        </p:blipFill>
        <p:spPr>
          <a:xfrm>
            <a:off x="3670001" y="122575"/>
            <a:ext cx="8358540" cy="6612851"/>
          </a:xfrm>
        </p:spPr>
      </p:pic>
    </p:spTree>
    <p:extLst>
      <p:ext uri="{BB962C8B-B14F-4D97-AF65-F5344CB8AC3E}">
        <p14:creationId xmlns:p14="http://schemas.microsoft.com/office/powerpoint/2010/main" val="1387507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pic>
        <p:nvPicPr>
          <p:cNvPr id="16" name="Content Placeholder 15" descr="A map of the state of california&#10;&#10;Description automatically generated">
            <a:extLst>
              <a:ext uri="{FF2B5EF4-FFF2-40B4-BE49-F238E27FC236}">
                <a16:creationId xmlns:a16="http://schemas.microsoft.com/office/drawing/2014/main" id="{9397417E-14EF-4941-72A5-C2D4501A9D7F}"/>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9743" t="4403" r="11581"/>
          <a:stretch/>
        </p:blipFill>
        <p:spPr>
          <a:xfrm>
            <a:off x="905029" y="1711889"/>
            <a:ext cx="3035427" cy="2432737"/>
          </a:xfrm>
        </p:spPr>
      </p:pic>
      <p:sp>
        <p:nvSpPr>
          <p:cNvPr id="5" name="Title 4">
            <a:extLst>
              <a:ext uri="{FF2B5EF4-FFF2-40B4-BE49-F238E27FC236}">
                <a16:creationId xmlns:a16="http://schemas.microsoft.com/office/drawing/2014/main" id="{0A2C15B9-B48C-DE26-C319-80C3592EE4AE}"/>
              </a:ext>
            </a:extLst>
          </p:cNvPr>
          <p:cNvSpPr>
            <a:spLocks noGrp="1"/>
          </p:cNvSpPr>
          <p:nvPr>
            <p:ph type="title"/>
          </p:nvPr>
        </p:nvSpPr>
        <p:spPr>
          <a:xfrm>
            <a:off x="571500" y="365125"/>
            <a:ext cx="10909300" cy="1216706"/>
          </a:xfrm>
        </p:spPr>
        <p:txBody>
          <a:bodyPr>
            <a:normAutofit/>
          </a:bodyPr>
          <a:lstStyle/>
          <a:p>
            <a:pPr algn="ctr"/>
            <a:r>
              <a:rPr lang="en-IN" sz="4000" b="1" dirty="0">
                <a:solidFill>
                  <a:schemeClr val="tx1">
                    <a:lumMod val="85000"/>
                    <a:lumOff val="15000"/>
                  </a:schemeClr>
                </a:solidFill>
                <a:latin typeface="Montserrat"/>
              </a:rPr>
              <a:t>TEMPERATURE VS OTHER FACTORS</a:t>
            </a:r>
            <a:endParaRPr lang="en-IN" sz="4000" b="1" dirty="0">
              <a:solidFill>
                <a:schemeClr val="tx1">
                  <a:lumMod val="85000"/>
                  <a:lumOff val="15000"/>
                </a:schemeClr>
              </a:solidFill>
              <a:latin typeface="Montserrat" panose="00000500000000000000" pitchFamily="2" charset="0"/>
            </a:endParaRPr>
          </a:p>
        </p:txBody>
      </p:sp>
      <p:pic>
        <p:nvPicPr>
          <p:cNvPr id="8" name="Content Placeholder 1" descr="A map of a land cover type&#10;&#10;Description automatically generated">
            <a:extLst>
              <a:ext uri="{FF2B5EF4-FFF2-40B4-BE49-F238E27FC236}">
                <a16:creationId xmlns:a16="http://schemas.microsoft.com/office/drawing/2014/main" id="{38AFD18A-0207-0969-FF41-C712023CE7F3}"/>
              </a:ext>
            </a:extLst>
          </p:cNvPr>
          <p:cNvPicPr>
            <a:picLocks noChangeAspect="1"/>
          </p:cNvPicPr>
          <p:nvPr/>
        </p:nvPicPr>
        <p:blipFill rotWithShape="1">
          <a:blip r:embed="rId4"/>
          <a:srcRect l="5816" t="2986" r="3060"/>
          <a:stretch/>
        </p:blipFill>
        <p:spPr>
          <a:xfrm>
            <a:off x="5190099" y="1708569"/>
            <a:ext cx="3040054" cy="2442456"/>
          </a:xfrm>
          <a:prstGeom prst="rect">
            <a:avLst/>
          </a:prstGeom>
        </p:spPr>
      </p:pic>
      <p:pic>
        <p:nvPicPr>
          <p:cNvPr id="10" name="Content Placeholder 1" descr="A map of canada with black and white text&#10;&#10;Description automatically generated">
            <a:extLst>
              <a:ext uri="{FF2B5EF4-FFF2-40B4-BE49-F238E27FC236}">
                <a16:creationId xmlns:a16="http://schemas.microsoft.com/office/drawing/2014/main" id="{BD7BCEBC-8153-E4FF-3761-0D4813A1A718}"/>
              </a:ext>
            </a:extLst>
          </p:cNvPr>
          <p:cNvPicPr>
            <a:picLocks noGrp="1" noChangeAspect="1"/>
          </p:cNvPicPr>
          <p:nvPr>
            <p:ph sz="half" idx="2"/>
          </p:nvPr>
        </p:nvPicPr>
        <p:blipFill>
          <a:blip r:embed="rId5"/>
          <a:stretch>
            <a:fillRect/>
          </a:stretch>
        </p:blipFill>
        <p:spPr>
          <a:xfrm>
            <a:off x="9317068" y="1640133"/>
            <a:ext cx="2298888" cy="2582353"/>
          </a:xfrm>
        </p:spPr>
      </p:pic>
      <p:pic>
        <p:nvPicPr>
          <p:cNvPr id="14" name="Content Placeholder 1" descr="A map of the state of canada&#10;&#10;Description automatically generated">
            <a:extLst>
              <a:ext uri="{FF2B5EF4-FFF2-40B4-BE49-F238E27FC236}">
                <a16:creationId xmlns:a16="http://schemas.microsoft.com/office/drawing/2014/main" id="{12CBE7AE-523C-B9EB-DAEF-E29F84AFDFF6}"/>
              </a:ext>
            </a:extLst>
          </p:cNvPr>
          <p:cNvPicPr>
            <a:picLocks noChangeAspect="1"/>
          </p:cNvPicPr>
          <p:nvPr/>
        </p:nvPicPr>
        <p:blipFill rotWithShape="1">
          <a:blip r:embed="rId6"/>
          <a:srcRect l="7199" t="2963" r="2756"/>
          <a:stretch/>
        </p:blipFill>
        <p:spPr>
          <a:xfrm>
            <a:off x="2847248" y="4238625"/>
            <a:ext cx="2769585" cy="2524402"/>
          </a:xfrm>
          <a:prstGeom prst="rect">
            <a:avLst/>
          </a:prstGeom>
        </p:spPr>
      </p:pic>
      <p:pic>
        <p:nvPicPr>
          <p:cNvPr id="17" name="Content Placeholder 3" descr="A map of canada with numbers and a number of people&#10;&#10;Description automatically generated">
            <a:extLst>
              <a:ext uri="{FF2B5EF4-FFF2-40B4-BE49-F238E27FC236}">
                <a16:creationId xmlns:a16="http://schemas.microsoft.com/office/drawing/2014/main" id="{1AB94891-2E3A-2B03-7191-50C08784A6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3767" y="4183346"/>
            <a:ext cx="3747561" cy="2575040"/>
          </a:xfrm>
          <a:prstGeom prst="rect">
            <a:avLst/>
          </a:prstGeom>
        </p:spPr>
      </p:pic>
    </p:spTree>
    <p:extLst>
      <p:ext uri="{BB962C8B-B14F-4D97-AF65-F5344CB8AC3E}">
        <p14:creationId xmlns:p14="http://schemas.microsoft.com/office/powerpoint/2010/main" val="856005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r>
              <a:rPr lang="en-IN" sz="4000" b="1">
                <a:solidFill>
                  <a:schemeClr val="tx1">
                    <a:lumMod val="85000"/>
                    <a:lumOff val="15000"/>
                  </a:schemeClr>
                </a:solidFill>
                <a:latin typeface="Montserrat"/>
              </a:rPr>
              <a:t>DERIVING HIE INDEX</a:t>
            </a:r>
            <a:endParaRPr lang="en-IN" sz="4000" b="1">
              <a:solidFill>
                <a:schemeClr val="tx1">
                  <a:lumMod val="85000"/>
                  <a:lumOff val="15000"/>
                </a:schemeClr>
              </a:solidFill>
              <a:latin typeface="Montserrat" panose="00000500000000000000" pitchFamily="2" charset="0"/>
            </a:endParaRPr>
          </a:p>
        </p:txBody>
      </p:sp>
      <p:sp>
        <p:nvSpPr>
          <p:cNvPr id="8" name="Subtitle 7">
            <a:extLst>
              <a:ext uri="{FF2B5EF4-FFF2-40B4-BE49-F238E27FC236}">
                <a16:creationId xmlns:a16="http://schemas.microsoft.com/office/drawing/2014/main" id="{3E60E119-14F3-487A-5467-395944481AB0}"/>
              </a:ext>
            </a:extLst>
          </p:cNvPr>
          <p:cNvSpPr>
            <a:spLocks noGrp="1"/>
          </p:cNvSpPr>
          <p:nvPr>
            <p:ph sz="half" idx="1"/>
          </p:nvPr>
        </p:nvSpPr>
        <p:spPr>
          <a:xfrm>
            <a:off x="573658" y="2371724"/>
            <a:ext cx="11079191" cy="3752849"/>
          </a:xfrm>
        </p:spPr>
        <p:txBody>
          <a:bodyPr vert="horz" lIns="91440" tIns="45720" rIns="91440" bIns="45720" rtlCol="0" anchor="t">
            <a:normAutofit/>
          </a:bodyPr>
          <a:lstStyle/>
          <a:p>
            <a:pPr>
              <a:lnSpc>
                <a:spcPct val="120000"/>
              </a:lnSpc>
            </a:pPr>
            <a:r>
              <a:rPr lang="en-US" sz="2400">
                <a:solidFill>
                  <a:schemeClr val="bg1">
                    <a:lumMod val="95000"/>
                  </a:schemeClr>
                </a:solidFill>
              </a:rPr>
              <a:t>Finding the difference in temperatures between the Heat Island region and the average temperature surrounding the Heat Island region.</a:t>
            </a:r>
          </a:p>
          <a:p>
            <a:pPr>
              <a:lnSpc>
                <a:spcPct val="120000"/>
              </a:lnSpc>
            </a:pPr>
            <a:endParaRPr lang="en-US" sz="2400">
              <a:solidFill>
                <a:schemeClr val="bg1">
                  <a:lumMod val="95000"/>
                </a:schemeClr>
              </a:solidFill>
            </a:endParaRPr>
          </a:p>
          <a:p>
            <a:pPr>
              <a:lnSpc>
                <a:spcPct val="120000"/>
              </a:lnSpc>
            </a:pPr>
            <a:r>
              <a:rPr lang="en-US" sz="2400">
                <a:solidFill>
                  <a:schemeClr val="bg1">
                    <a:lumMod val="95000"/>
                  </a:schemeClr>
                </a:solidFill>
              </a:rPr>
              <a:t>HIE index (given time) = Temp. (within the HI region) - Average Temp. (surrounding) </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1873866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srcRect/>
          <a:stretch/>
        </p:blipFill>
        <p:spPr>
          <a:xfrm>
            <a:off x="-1" y="10"/>
            <a:ext cx="12192001" cy="6857990"/>
          </a:xfrm>
          <a:prstGeom prst="rect">
            <a:avLst/>
          </a:prstGeom>
        </p:spPr>
      </p:pic>
      <p:sp>
        <p:nvSpPr>
          <p:cNvPr id="464" name="Rectangle 463">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DD27B21-D0A2-CC8B-E9FA-FD6566411793}"/>
              </a:ext>
            </a:extLst>
          </p:cNvPr>
          <p:cNvSpPr>
            <a:spLocks noGrp="1"/>
          </p:cNvSpPr>
          <p:nvPr>
            <p:ph type="ctrTitle"/>
          </p:nvPr>
        </p:nvSpPr>
        <p:spPr>
          <a:xfrm>
            <a:off x="2276475" y="2247900"/>
            <a:ext cx="7581900" cy="2514600"/>
          </a:xfrm>
        </p:spPr>
        <p:txBody>
          <a:bodyPr vert="horz" lIns="91440" tIns="45720" rIns="91440" bIns="45720" rtlCol="0" anchor="ctr">
            <a:normAutofit/>
          </a:bodyPr>
          <a:lstStyle/>
          <a:p>
            <a:r>
              <a:rPr lang="en-US" sz="6600" b="1">
                <a:solidFill>
                  <a:schemeClr val="tx1">
                    <a:lumMod val="75000"/>
                    <a:lumOff val="25000"/>
                  </a:schemeClr>
                </a:solidFill>
              </a:rPr>
              <a:t>MODELING</a:t>
            </a:r>
          </a:p>
        </p:txBody>
      </p:sp>
    </p:spTree>
    <p:extLst>
      <p:ext uri="{BB962C8B-B14F-4D97-AF65-F5344CB8AC3E}">
        <p14:creationId xmlns:p14="http://schemas.microsoft.com/office/powerpoint/2010/main" val="136440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r>
              <a:rPr lang="en-IN" sz="4000" b="1">
                <a:solidFill>
                  <a:schemeClr val="tx1">
                    <a:lumMod val="85000"/>
                    <a:lumOff val="15000"/>
                  </a:schemeClr>
                </a:solidFill>
                <a:latin typeface="Montserrat"/>
              </a:rPr>
              <a:t>MODELING APPROACH</a:t>
            </a:r>
            <a:endParaRPr lang="en-IN" sz="4000" b="1">
              <a:solidFill>
                <a:schemeClr val="tx1">
                  <a:lumMod val="85000"/>
                  <a:lumOff val="15000"/>
                </a:schemeClr>
              </a:solidFill>
              <a:latin typeface="Montserrat" panose="00000500000000000000" pitchFamily="2" charset="0"/>
            </a:endParaRPr>
          </a:p>
        </p:txBody>
      </p:sp>
      <p:sp>
        <p:nvSpPr>
          <p:cNvPr id="9" name="Content Placeholder 8">
            <a:extLst>
              <a:ext uri="{FF2B5EF4-FFF2-40B4-BE49-F238E27FC236}">
                <a16:creationId xmlns:a16="http://schemas.microsoft.com/office/drawing/2014/main" id="{CB0D691E-0650-3E54-78E8-CE48A71E7391}"/>
              </a:ext>
            </a:extLst>
          </p:cNvPr>
          <p:cNvSpPr>
            <a:spLocks noGrp="1"/>
          </p:cNvSpPr>
          <p:nvPr>
            <p:ph sz="half" idx="2"/>
          </p:nvPr>
        </p:nvSpPr>
        <p:spPr>
          <a:xfrm>
            <a:off x="685800" y="2290915"/>
            <a:ext cx="10515601" cy="3814917"/>
          </a:xfrm>
        </p:spPr>
        <p:txBody>
          <a:bodyPr vert="horz" lIns="91440" tIns="45720" rIns="91440" bIns="45720" rtlCol="0" anchor="t">
            <a:noAutofit/>
          </a:bodyPr>
          <a:lstStyle/>
          <a:p>
            <a:r>
              <a:rPr lang="en-US" sz="2400" dirty="0">
                <a:solidFill>
                  <a:schemeClr val="bg1">
                    <a:lumMod val="95000"/>
                  </a:schemeClr>
                </a:solidFill>
              </a:rPr>
              <a:t>Model can be created by combing all the data sources as attributes and HIE index as a target attribute to be predicted.</a:t>
            </a:r>
          </a:p>
          <a:p>
            <a:r>
              <a:rPr lang="en-US" sz="2400" dirty="0">
                <a:solidFill>
                  <a:schemeClr val="bg1">
                    <a:lumMod val="95000"/>
                  </a:schemeClr>
                </a:solidFill>
              </a:rPr>
              <a:t>Data such as NDVI, land cover, temperature, building footprints can help explain the covariance in the model.</a:t>
            </a:r>
          </a:p>
          <a:p>
            <a:r>
              <a:rPr lang="en-US" sz="2400" dirty="0">
                <a:solidFill>
                  <a:schemeClr val="bg1">
                    <a:lumMod val="95000"/>
                  </a:schemeClr>
                </a:solidFill>
              </a:rPr>
              <a:t>An algorithm such as Elastic net regression, Linear regression, Ensemble learning methods such as Random forest etc. can be used to model the temperature predictor. </a:t>
            </a:r>
          </a:p>
          <a:p>
            <a:r>
              <a:rPr lang="en-US" sz="2400" dirty="0">
                <a:solidFill>
                  <a:schemeClr val="bg1">
                    <a:lumMod val="95000"/>
                  </a:schemeClr>
                </a:solidFill>
              </a:rPr>
              <a:t>Model will be trained using spatial cross validation as part of learner. </a:t>
            </a:r>
          </a:p>
          <a:p>
            <a:r>
              <a:rPr lang="en-US" sz="2400" dirty="0">
                <a:solidFill>
                  <a:schemeClr val="bg1">
                    <a:lumMod val="95000"/>
                  </a:schemeClr>
                </a:solidFill>
              </a:rPr>
              <a:t>Model evaluation will be done using RMSE, R-SQUARED error. </a:t>
            </a:r>
          </a:p>
        </p:txBody>
      </p:sp>
      <p:sp>
        <p:nvSpPr>
          <p:cNvPr id="12" name="Subtitle 7">
            <a:extLst>
              <a:ext uri="{FF2B5EF4-FFF2-40B4-BE49-F238E27FC236}">
                <a16:creationId xmlns:a16="http://schemas.microsoft.com/office/drawing/2014/main" id="{76F5E43E-5317-127D-F78B-446A0A1EEAE2}"/>
              </a:ext>
            </a:extLst>
          </p:cNvPr>
          <p:cNvSpPr txBox="1">
            <a:spLocks/>
          </p:cNvSpPr>
          <p:nvPr/>
        </p:nvSpPr>
        <p:spPr>
          <a:xfrm>
            <a:off x="685800" y="3971926"/>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1706544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r>
              <a:rPr lang="en-IN" sz="4000" b="1" dirty="0">
                <a:solidFill>
                  <a:schemeClr val="tx1">
                    <a:lumMod val="85000"/>
                    <a:lumOff val="15000"/>
                  </a:schemeClr>
                </a:solidFill>
                <a:latin typeface="Montserrat"/>
              </a:rPr>
              <a:t>WHY HIE INDEX?</a:t>
            </a:r>
          </a:p>
        </p:txBody>
      </p:sp>
      <p:sp>
        <p:nvSpPr>
          <p:cNvPr id="9" name="Content Placeholder 8">
            <a:extLst>
              <a:ext uri="{FF2B5EF4-FFF2-40B4-BE49-F238E27FC236}">
                <a16:creationId xmlns:a16="http://schemas.microsoft.com/office/drawing/2014/main" id="{CB0D691E-0650-3E54-78E8-CE48A71E7391}"/>
              </a:ext>
            </a:extLst>
          </p:cNvPr>
          <p:cNvSpPr>
            <a:spLocks noGrp="1"/>
          </p:cNvSpPr>
          <p:nvPr>
            <p:ph sz="half" idx="2"/>
          </p:nvPr>
        </p:nvSpPr>
        <p:spPr>
          <a:xfrm>
            <a:off x="685800" y="2290915"/>
            <a:ext cx="10515601" cy="3814917"/>
          </a:xfrm>
        </p:spPr>
        <p:txBody>
          <a:bodyPr vert="horz" lIns="91440" tIns="45720" rIns="91440" bIns="45720" rtlCol="0" anchor="t">
            <a:noAutofit/>
          </a:bodyPr>
          <a:lstStyle/>
          <a:p>
            <a:r>
              <a:rPr lang="en-US" sz="2400" dirty="0">
                <a:solidFill>
                  <a:schemeClr val="bg1">
                    <a:lumMod val="95000"/>
                  </a:schemeClr>
                </a:solidFill>
              </a:rPr>
              <a:t>Better city planning - How does HIE index change with the introduction of new infrastructure within the region? (New Airports, subway lines, etc.)</a:t>
            </a:r>
          </a:p>
          <a:p>
            <a:r>
              <a:rPr lang="en-US" sz="2400" dirty="0">
                <a:solidFill>
                  <a:schemeClr val="bg1">
                    <a:lumMod val="95000"/>
                  </a:schemeClr>
                </a:solidFill>
              </a:rPr>
              <a:t>Better temperature forecasting - How does recent wildfire affect the temperatures in the nearby urban areas?</a:t>
            </a:r>
          </a:p>
          <a:p>
            <a:r>
              <a:rPr lang="en-US" sz="2400" dirty="0">
                <a:solidFill>
                  <a:schemeClr val="bg1">
                    <a:lumMod val="95000"/>
                  </a:schemeClr>
                </a:solidFill>
              </a:rPr>
              <a:t>Better localized insights -</a:t>
            </a:r>
            <a:r>
              <a:rPr lang="en-US" sz="2400" dirty="0">
                <a:solidFill>
                  <a:schemeClr val="bg1">
                    <a:lumMod val="95000"/>
                  </a:schemeClr>
                </a:solidFill>
                <a:ea typeface="+mn-lt"/>
                <a:cs typeface="+mn-lt"/>
              </a:rPr>
              <a:t> HIE index predictions offer detailed, localized information about temperature variations within urban areas, which can significantly differ from regional or overall temperatures. This allows for more precise energy consumption forecasts for specific neighborhoods or districts.</a:t>
            </a:r>
            <a:endParaRPr lang="en-US" sz="2400" dirty="0">
              <a:solidFill>
                <a:schemeClr val="bg1">
                  <a:lumMod val="95000"/>
                </a:schemeClr>
              </a:solidFill>
            </a:endParaRPr>
          </a:p>
          <a:p>
            <a:pPr lvl="1">
              <a:buFont typeface="Courier New" panose="020B0604020202020204" pitchFamily="34" charset="0"/>
              <a:buChar char="o"/>
            </a:pPr>
            <a:endParaRPr lang="en-US" sz="2000" dirty="0">
              <a:solidFill>
                <a:schemeClr val="bg1">
                  <a:lumMod val="95000"/>
                </a:schemeClr>
              </a:solidFill>
            </a:endParaRPr>
          </a:p>
        </p:txBody>
      </p:sp>
    </p:spTree>
    <p:extLst>
      <p:ext uri="{BB962C8B-B14F-4D97-AF65-F5344CB8AC3E}">
        <p14:creationId xmlns:p14="http://schemas.microsoft.com/office/powerpoint/2010/main" val="4163372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0000"/>
                    </a14:imgEffect>
                  </a14:imgLayer>
                </a14:imgProps>
              </a:ext>
            </a:extLst>
          </a:blip>
          <a:srcRect/>
          <a:stretch/>
        </p:blipFill>
        <p:spPr>
          <a:xfrm>
            <a:off x="-1" y="0"/>
            <a:ext cx="12192001" cy="6857990"/>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5" name="Title 4">
            <a:extLst>
              <a:ext uri="{FF2B5EF4-FFF2-40B4-BE49-F238E27FC236}">
                <a16:creationId xmlns:a16="http://schemas.microsoft.com/office/drawing/2014/main" id="{14A70228-343A-EE06-A9BF-77AAE5006A1A}"/>
              </a:ext>
            </a:extLst>
          </p:cNvPr>
          <p:cNvSpPr>
            <a:spLocks noGrp="1"/>
          </p:cNvSpPr>
          <p:nvPr>
            <p:ph type="title"/>
          </p:nvPr>
        </p:nvSpPr>
        <p:spPr>
          <a:xfrm>
            <a:off x="571500" y="365125"/>
            <a:ext cx="6629400" cy="1325563"/>
          </a:xfrm>
        </p:spPr>
        <p:txBody>
          <a:bodyPr>
            <a:normAutofit/>
          </a:bodyPr>
          <a:lstStyle/>
          <a:p>
            <a:r>
              <a:rPr lang="en-IN" sz="4000" b="1">
                <a:solidFill>
                  <a:schemeClr val="tx1">
                    <a:lumMod val="85000"/>
                    <a:lumOff val="15000"/>
                  </a:schemeClr>
                </a:solidFill>
                <a:latin typeface="Montserrat"/>
              </a:rPr>
              <a:t>FUTURE SCOPE</a:t>
            </a:r>
            <a:endParaRPr lang="en-IN" sz="4000" b="1">
              <a:solidFill>
                <a:schemeClr val="tx1">
                  <a:lumMod val="85000"/>
                  <a:lumOff val="15000"/>
                </a:schemeClr>
              </a:solidFill>
              <a:latin typeface="Montserrat" panose="00000500000000000000" pitchFamily="2" charset="0"/>
            </a:endParaRPr>
          </a:p>
        </p:txBody>
      </p:sp>
      <p:sp>
        <p:nvSpPr>
          <p:cNvPr id="8" name="Subtitle 7">
            <a:extLst>
              <a:ext uri="{FF2B5EF4-FFF2-40B4-BE49-F238E27FC236}">
                <a16:creationId xmlns:a16="http://schemas.microsoft.com/office/drawing/2014/main" id="{3E60E119-14F3-487A-5467-395944481AB0}"/>
              </a:ext>
            </a:extLst>
          </p:cNvPr>
          <p:cNvSpPr>
            <a:spLocks noGrp="1"/>
          </p:cNvSpPr>
          <p:nvPr>
            <p:ph sz="half" idx="1"/>
          </p:nvPr>
        </p:nvSpPr>
        <p:spPr>
          <a:xfrm>
            <a:off x="957944" y="2981324"/>
            <a:ext cx="9884227" cy="1978478"/>
          </a:xfrm>
        </p:spPr>
        <p:txBody>
          <a:bodyPr vert="horz" lIns="91440" tIns="45720" rIns="91440" bIns="45720" rtlCol="0" anchor="t">
            <a:normAutofit lnSpcReduction="10000"/>
          </a:bodyPr>
          <a:lstStyle/>
          <a:p>
            <a:pPr>
              <a:lnSpc>
                <a:spcPct val="120000"/>
              </a:lnSpc>
            </a:pPr>
            <a:r>
              <a:rPr lang="en-US" sz="2400" dirty="0">
                <a:solidFill>
                  <a:schemeClr val="bg1">
                    <a:lumMod val="95000"/>
                  </a:schemeClr>
                </a:solidFill>
              </a:rPr>
              <a:t>Predicting HIE index throughout the year, to measure the different intensities of HIE index for a given region</a:t>
            </a:r>
          </a:p>
          <a:p>
            <a:pPr>
              <a:lnSpc>
                <a:spcPct val="120000"/>
              </a:lnSpc>
            </a:pPr>
            <a:r>
              <a:rPr lang="en-US" sz="2400" dirty="0">
                <a:solidFill>
                  <a:schemeClr val="bg1">
                    <a:lumMod val="95000"/>
                  </a:schemeClr>
                </a:solidFill>
              </a:rPr>
              <a:t>Predicting HIE index globally</a:t>
            </a:r>
          </a:p>
          <a:p>
            <a:pPr>
              <a:lnSpc>
                <a:spcPct val="120000"/>
              </a:lnSpc>
            </a:pPr>
            <a:r>
              <a:rPr lang="en-US" sz="2400" dirty="0">
                <a:solidFill>
                  <a:schemeClr val="bg1">
                    <a:lumMod val="95000"/>
                  </a:schemeClr>
                </a:solidFill>
              </a:rPr>
              <a:t>Feature engineering height of building or </a:t>
            </a:r>
            <a:r>
              <a:rPr lang="en-US" sz="2400">
                <a:solidFill>
                  <a:schemeClr val="bg1">
                    <a:lumMod val="95000"/>
                  </a:schemeClr>
                </a:solidFill>
              </a:rPr>
              <a:t>equivalent variable</a:t>
            </a:r>
            <a:endParaRPr lang="en-US" sz="2400" dirty="0">
              <a:solidFill>
                <a:schemeClr val="bg1">
                  <a:lumMod val="95000"/>
                </a:schemeClr>
              </a:solidFill>
            </a:endParaRPr>
          </a:p>
          <a:p>
            <a:pPr>
              <a:lnSpc>
                <a:spcPct val="120000"/>
              </a:lnSpc>
            </a:pPr>
            <a:endParaRPr lang="en-US" sz="2400" dirty="0">
              <a:solidFill>
                <a:schemeClr val="bg1">
                  <a:lumMod val="95000"/>
                </a:schemeClr>
              </a:solidFill>
            </a:endParaRPr>
          </a:p>
          <a:p>
            <a:pPr>
              <a:lnSpc>
                <a:spcPct val="120000"/>
              </a:lnSpc>
            </a:pPr>
            <a:endParaRPr lang="en-US" sz="2400" dirty="0">
              <a:solidFill>
                <a:schemeClr val="bg1">
                  <a:lumMod val="95000"/>
                </a:schemeClr>
              </a:solidFill>
            </a:endParaRPr>
          </a:p>
        </p:txBody>
      </p:sp>
      <p:sp>
        <p:nvSpPr>
          <p:cNvPr id="13" name="Content Placeholder 8">
            <a:extLst>
              <a:ext uri="{FF2B5EF4-FFF2-40B4-BE49-F238E27FC236}">
                <a16:creationId xmlns:a16="http://schemas.microsoft.com/office/drawing/2014/main" id="{70C01C33-3C1C-2D6F-3F0C-37F06DCED27B}"/>
              </a:ext>
            </a:extLst>
          </p:cNvPr>
          <p:cNvSpPr txBox="1">
            <a:spLocks/>
          </p:cNvSpPr>
          <p:nvPr/>
        </p:nvSpPr>
        <p:spPr>
          <a:xfrm>
            <a:off x="6019800" y="3971925"/>
            <a:ext cx="5181600" cy="168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solidFill>
                <a:schemeClr val="bg1">
                  <a:lumMod val="95000"/>
                </a:schemeClr>
              </a:solidFill>
            </a:endParaRPr>
          </a:p>
        </p:txBody>
      </p:sp>
    </p:spTree>
    <p:extLst>
      <p:ext uri="{BB962C8B-B14F-4D97-AF65-F5344CB8AC3E}">
        <p14:creationId xmlns:p14="http://schemas.microsoft.com/office/powerpoint/2010/main" val="1558975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59" name="Picture 458" descr="Colourful paint patterns">
            <a:extLst>
              <a:ext uri="{FF2B5EF4-FFF2-40B4-BE49-F238E27FC236}">
                <a16:creationId xmlns:a16="http://schemas.microsoft.com/office/drawing/2014/main" id="{0D4DFAE5-175A-54A4-E19A-E19B1A69AB0C}"/>
              </a:ext>
            </a:extLst>
          </p:cNvPr>
          <p:cNvPicPr>
            <a:picLocks noChangeAspect="1"/>
          </p:cNvPicPr>
          <p:nvPr/>
        </p:nvPicPr>
        <p:blipFill>
          <a:blip r:embed="rId3"/>
          <a:srcRect/>
          <a:stretch/>
        </p:blipFill>
        <p:spPr>
          <a:xfrm>
            <a:off x="-1" y="10"/>
            <a:ext cx="12192001" cy="6857990"/>
          </a:xfrm>
          <a:prstGeom prst="rect">
            <a:avLst/>
          </a:prstGeom>
        </p:spPr>
      </p:pic>
      <p:sp>
        <p:nvSpPr>
          <p:cNvPr id="464" name="Rectangle 463">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DD27B21-D0A2-CC8B-E9FA-FD6566411793}"/>
              </a:ext>
            </a:extLst>
          </p:cNvPr>
          <p:cNvSpPr>
            <a:spLocks noGrp="1"/>
          </p:cNvSpPr>
          <p:nvPr>
            <p:ph type="ctrTitle"/>
          </p:nvPr>
        </p:nvSpPr>
        <p:spPr>
          <a:xfrm>
            <a:off x="2276475" y="2247900"/>
            <a:ext cx="7581900" cy="2514600"/>
          </a:xfrm>
        </p:spPr>
        <p:txBody>
          <a:bodyPr vert="horz" lIns="91440" tIns="45720" rIns="91440" bIns="45720" rtlCol="0" anchor="ctr">
            <a:normAutofit/>
          </a:bodyPr>
          <a:lstStyle/>
          <a:p>
            <a:r>
              <a:rPr lang="en-US" sz="6600" b="1">
                <a:solidFill>
                  <a:schemeClr val="tx1">
                    <a:lumMod val="75000"/>
                    <a:lumOff val="25000"/>
                  </a:schemeClr>
                </a:solidFill>
              </a:rPr>
              <a:t>THANK YOU</a:t>
            </a:r>
          </a:p>
        </p:txBody>
      </p:sp>
    </p:spTree>
    <p:extLst>
      <p:ext uri="{BB962C8B-B14F-4D97-AF65-F5344CB8AC3E}">
        <p14:creationId xmlns:p14="http://schemas.microsoft.com/office/powerpoint/2010/main" val="445307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6ba10ab-b778-47fb-949c-c52586167ad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5F305622786243B388ACCE1C445184" ma:contentTypeVersion="14" ma:contentTypeDescription="Create a new document." ma:contentTypeScope="" ma:versionID="b61c7865488db570c27d4299a7a7c4a1">
  <xsd:schema xmlns:xsd="http://www.w3.org/2001/XMLSchema" xmlns:xs="http://www.w3.org/2001/XMLSchema" xmlns:p="http://schemas.microsoft.com/office/2006/metadata/properties" xmlns:ns3="56ba10ab-b778-47fb-949c-c52586167ad3" xmlns:ns4="9e35a4e4-4aa5-4c20-8f5d-62958a4f138b" targetNamespace="http://schemas.microsoft.com/office/2006/metadata/properties" ma:root="true" ma:fieldsID="7f4eae9748d51c71095d9253e44ea270" ns3:_="" ns4:_="">
    <xsd:import namespace="56ba10ab-b778-47fb-949c-c52586167ad3"/>
    <xsd:import namespace="9e35a4e4-4aa5-4c20-8f5d-62958a4f138b"/>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DateTaken" minOccurs="0"/>
                <xsd:element ref="ns3:MediaServiceObjectDetectorVersions" minOccurs="0"/>
                <xsd:element ref="ns3:MediaServiceAutoTags" minOccurs="0"/>
                <xsd:element ref="ns3:MediaLengthInSeconds" minOccurs="0"/>
                <xsd:element ref="ns3:MediaServiceSystemTags"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ba10ab-b778-47fb-949c-c52586167ad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35a4e4-4aa5-4c20-8f5d-62958a4f138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33D4E6-135D-469B-BD9E-98F922EEA1F9}">
  <ds:schemaRefs>
    <ds:schemaRef ds:uri="http://schemas.microsoft.com/office/2006/documentManagement/types"/>
    <ds:schemaRef ds:uri="9e35a4e4-4aa5-4c20-8f5d-62958a4f138b"/>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56ba10ab-b778-47fb-949c-c52586167ad3"/>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66C0A1BE-0F55-476A-AC59-BD365DFF497D}">
  <ds:schemaRefs>
    <ds:schemaRef ds:uri="http://schemas.microsoft.com/sharepoint/v3/contenttype/forms"/>
  </ds:schemaRefs>
</ds:datastoreItem>
</file>

<file path=customXml/itemProps3.xml><?xml version="1.0" encoding="utf-8"?>
<ds:datastoreItem xmlns:ds="http://schemas.openxmlformats.org/officeDocument/2006/customXml" ds:itemID="{4DE40349-E4CA-4C1C-A121-70C1F548FB78}">
  <ds:schemaRefs>
    <ds:schemaRef ds:uri="56ba10ab-b778-47fb-949c-c52586167ad3"/>
    <ds:schemaRef ds:uri="9e35a4e4-4aa5-4c20-8f5d-62958a4f138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e62a12b-2cad-49a1-a5fa-85f4f3156a7d}" enabled="0" method="" siteId="{be62a12b-2cad-49a1-a5fa-85f4f3156a7d}" removed="1"/>
</clbl:labelList>
</file>

<file path=docProps/app.xml><?xml version="1.0" encoding="utf-8"?>
<Properties xmlns="http://schemas.openxmlformats.org/officeDocument/2006/extended-properties" xmlns:vt="http://schemas.openxmlformats.org/officeDocument/2006/docPropsVTypes">
  <TotalTime>20</TotalTime>
  <Words>1052</Words>
  <Application>Microsoft Office PowerPoint</Application>
  <PresentationFormat>Widescreen</PresentationFormat>
  <Paragraphs>158</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Courier New</vt:lpstr>
      <vt:lpstr>Montserrat</vt:lpstr>
      <vt:lpstr>Office Theme</vt:lpstr>
      <vt:lpstr>HEAT ISLAND EFFECT IN ONTARIO</vt:lpstr>
      <vt:lpstr>INTRODUCTION</vt:lpstr>
      <vt:lpstr>PROBLEM STATEMENT</vt:lpstr>
      <vt:lpstr>PowerPoint Presentation</vt:lpstr>
      <vt:lpstr>MOTIVATION</vt:lpstr>
      <vt:lpstr>DATA ACQUISITION</vt:lpstr>
      <vt:lpstr>PowerPoint Presentation</vt:lpstr>
      <vt:lpstr>WEATHER STATIONS AND TEMPERATURE</vt:lpstr>
      <vt:lpstr>BUILDING FOOTPRINTS</vt:lpstr>
      <vt:lpstr>PowerPoint Presentation</vt:lpstr>
      <vt:lpstr>CANADA CENSUS</vt:lpstr>
      <vt:lpstr>ANALYSIS</vt:lpstr>
      <vt:lpstr>ANALYSIS METHODS</vt:lpstr>
      <vt:lpstr>PowerPoint Presentation</vt:lpstr>
      <vt:lpstr>TEMPERATURE VS OTHER FACTORS</vt:lpstr>
      <vt:lpstr>DERIVING HIE INDEX</vt:lpstr>
      <vt:lpstr>MODELING</vt:lpstr>
      <vt:lpstr>MODELING APPROACH</vt:lpstr>
      <vt:lpstr>WHY HIE INDEX?</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ISLAND EFFECT IN ONTARIO</dc:title>
  <dc:creator>Niraj Pradipkumar Patil</dc:creator>
  <cp:lastModifiedBy>Niraj Pradipkumar Patil</cp:lastModifiedBy>
  <cp:revision>2</cp:revision>
  <dcterms:created xsi:type="dcterms:W3CDTF">2024-07-23T15:31:57Z</dcterms:created>
  <dcterms:modified xsi:type="dcterms:W3CDTF">2024-07-26T05:17:57Z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0x010100225F305622786243B388ACCE1C445184</vt:lpwstr>
  </property>
</Properties>
</file>